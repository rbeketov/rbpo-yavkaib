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22034448f1b46b6" /><Relationship Type="http://schemas.openxmlformats.org/officeDocument/2006/relationships/extended-properties" Target="/docProps/app.xml" Id="R4983cf8a56424b97" /><Relationship Type="http://schemas.openxmlformats.org/officeDocument/2006/relationships/officeDocument" Target="/ppt/presentation.xml" Id="R8a41031cd4f84fe5" /></Relationships>
</file>

<file path=ppt/presentation.xml><?xml version="1.0" encoding="utf-8"?>
<p:presentation xmlns:p="http://schemas.openxmlformats.org/presentationml/2006/main">
  <p:sldMasterIdLst>
    <p:sldMasterId xmlns:r="http://schemas.openxmlformats.org/officeDocument/2006/relationships" id="2147483648" r:id="Rfd2becc5ef064e6b"/>
  </p:sldMasterIdLst>
  <p:notesMasterIdLst>
    <p:notesMasterId xmlns:r="http://schemas.openxmlformats.org/officeDocument/2006/relationships" r:id="Rf387fef931e1493b"/>
  </p:notesMasterIdLst>
  <p:sldIdLst>
    <p:sldId xmlns:r="http://schemas.openxmlformats.org/officeDocument/2006/relationships" id="256" r:id="R55becc7d521a4a47"/>
    <p:sldId xmlns:r="http://schemas.openxmlformats.org/officeDocument/2006/relationships" id="257" r:id="Rf92fcb5e00874b2b"/>
    <p:sldId xmlns:r="http://schemas.openxmlformats.org/officeDocument/2006/relationships" id="258" r:id="R2ce952b0d59f45fe"/>
    <p:sldId xmlns:r="http://schemas.openxmlformats.org/officeDocument/2006/relationships" id="259" r:id="Rb9a6b305661749c9"/>
    <p:sldId xmlns:r="http://schemas.openxmlformats.org/officeDocument/2006/relationships" id="260" r:id="Re36c2f71c4824165"/>
    <p:sldId xmlns:r="http://schemas.openxmlformats.org/officeDocument/2006/relationships" id="261" r:id="R80b40d06d7134cc8"/>
    <p:sldId xmlns:r="http://schemas.openxmlformats.org/officeDocument/2006/relationships" id="262" r:id="R52477179437448c2"/>
    <p:sldId xmlns:r="http://schemas.openxmlformats.org/officeDocument/2006/relationships" id="263" r:id="R7d14030a01fd4c1c"/>
    <p:sldId xmlns:r="http://schemas.openxmlformats.org/officeDocument/2006/relationships" id="264" r:id="R9d94c29bc5f548a0"/>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c19279cffe24c81" /><Relationship Type="http://schemas.openxmlformats.org/officeDocument/2006/relationships/slideMaster" Target="/ppt/slideMasters/slideMaster1.xml" Id="Rfd2becc5ef064e6b" /><Relationship Type="http://schemas.openxmlformats.org/officeDocument/2006/relationships/notesMaster" Target="/ppt/notesMasters/notesMaster1.xml" Id="Rf387fef931e1493b" /><Relationship Type="http://schemas.openxmlformats.org/officeDocument/2006/relationships/presProps" Target="/ppt/presProps.xml" Id="Rdf6c91b3132b4e24" /><Relationship Type="http://schemas.openxmlformats.org/officeDocument/2006/relationships/tableStyles" Target="/ppt/tableStyles.xml" Id="R037f3c407e504ece" /><Relationship Type="http://schemas.openxmlformats.org/officeDocument/2006/relationships/slide" Target="/ppt/slides/slide1.xml" Id="R55becc7d521a4a47" /><Relationship Type="http://schemas.openxmlformats.org/officeDocument/2006/relationships/slide" Target="/ppt/slides/slide2.xml" Id="Rf92fcb5e00874b2b" /><Relationship Type="http://schemas.openxmlformats.org/officeDocument/2006/relationships/slide" Target="/ppt/slides/slide3.xml" Id="R2ce952b0d59f45fe" /><Relationship Type="http://schemas.openxmlformats.org/officeDocument/2006/relationships/slide" Target="/ppt/slides/slide4.xml" Id="Rb9a6b305661749c9" /><Relationship Type="http://schemas.openxmlformats.org/officeDocument/2006/relationships/slide" Target="/ppt/slides/slide5.xml" Id="Re36c2f71c4824165" /><Relationship Type="http://schemas.openxmlformats.org/officeDocument/2006/relationships/slide" Target="/ppt/slides/slide6.xml" Id="R80b40d06d7134cc8" /><Relationship Type="http://schemas.openxmlformats.org/officeDocument/2006/relationships/slide" Target="/ppt/slides/slide7.xml" Id="R52477179437448c2" /><Relationship Type="http://schemas.openxmlformats.org/officeDocument/2006/relationships/slide" Target="/ppt/slides/slide8.xml" Id="R7d14030a01fd4c1c" /><Relationship Type="http://schemas.openxmlformats.org/officeDocument/2006/relationships/slide" Target="/ppt/slides/slide9.xml" Id="R9d94c29bc5f548a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ee99375056c49e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c94601731424ca3" /><Relationship Type="http://schemas.openxmlformats.org/officeDocument/2006/relationships/notesMaster" Target="/ppt/notesMasters/notesMaster1.xml" Id="Re91dea85baa04c81" /></Relationships>
</file>

<file path=ppt/notesSlides/_rels/notesSlide2.xml.rels>&#65279;<?xml version="1.0" encoding="utf-8"?><Relationships xmlns="http://schemas.openxmlformats.org/package/2006/relationships"><Relationship Type="http://schemas.openxmlformats.org/officeDocument/2006/relationships/slide" Target="/ppt/slides/slide2.xml" Id="R867ceabd183943bf" /><Relationship Type="http://schemas.openxmlformats.org/officeDocument/2006/relationships/notesMaster" Target="/ppt/notesMasters/notesMaster1.xml" Id="R2f5d333567864e57" /></Relationships>
</file>

<file path=ppt/notesSlides/_rels/notesSlide3.xml.rels>&#65279;<?xml version="1.0" encoding="utf-8"?><Relationships xmlns="http://schemas.openxmlformats.org/package/2006/relationships"><Relationship Type="http://schemas.openxmlformats.org/officeDocument/2006/relationships/slide" Target="/ppt/slides/slide3.xml" Id="Reb2ea828ab7b4070" /><Relationship Type="http://schemas.openxmlformats.org/officeDocument/2006/relationships/notesMaster" Target="/ppt/notesMasters/notesMaster1.xml" Id="R340b852931ba4a88" /></Relationships>
</file>

<file path=ppt/notesSlides/_rels/notesSlide4.xml.rels>&#65279;<?xml version="1.0" encoding="utf-8"?><Relationships xmlns="http://schemas.openxmlformats.org/package/2006/relationships"><Relationship Type="http://schemas.openxmlformats.org/officeDocument/2006/relationships/slide" Target="/ppt/slides/slide4.xml" Id="Rb93ff2d7ec9e4efe" /><Relationship Type="http://schemas.openxmlformats.org/officeDocument/2006/relationships/notesMaster" Target="/ppt/notesMasters/notesMaster1.xml" Id="R8d19d086bbc74d43" /></Relationships>
</file>

<file path=ppt/notesSlides/_rels/notesSlide5.xml.rels>&#65279;<?xml version="1.0" encoding="utf-8"?><Relationships xmlns="http://schemas.openxmlformats.org/package/2006/relationships"><Relationship Type="http://schemas.openxmlformats.org/officeDocument/2006/relationships/slide" Target="/ppt/slides/slide5.xml" Id="R3b656068477540e3" /><Relationship Type="http://schemas.openxmlformats.org/officeDocument/2006/relationships/notesMaster" Target="/ppt/notesMasters/notesMaster1.xml" Id="R058b4773b87d4191" /></Relationships>
</file>

<file path=ppt/notesSlides/_rels/notesSlide6.xml.rels>&#65279;<?xml version="1.0" encoding="utf-8"?><Relationships xmlns="http://schemas.openxmlformats.org/package/2006/relationships"><Relationship Type="http://schemas.openxmlformats.org/officeDocument/2006/relationships/slide" Target="/ppt/slides/slide6.xml" Id="Rf57db8f24aa24734" /><Relationship Type="http://schemas.openxmlformats.org/officeDocument/2006/relationships/notesMaster" Target="/ppt/notesMasters/notesMaster1.xml" Id="Re250e2048e104eb3" /></Relationships>
</file>

<file path=ppt/notesSlides/_rels/notesSlide7.xml.rels>&#65279;<?xml version="1.0" encoding="utf-8"?><Relationships xmlns="http://schemas.openxmlformats.org/package/2006/relationships"><Relationship Type="http://schemas.openxmlformats.org/officeDocument/2006/relationships/slide" Target="/ppt/slides/slide7.xml" Id="R24aa0c5330f74393" /><Relationship Type="http://schemas.openxmlformats.org/officeDocument/2006/relationships/notesMaster" Target="/ppt/notesMasters/notesMaster1.xml" Id="R64a85238f08341dd" /></Relationships>
</file>

<file path=ppt/notesSlides/_rels/notesSlide8.xml.rels>&#65279;<?xml version="1.0" encoding="utf-8"?><Relationships xmlns="http://schemas.openxmlformats.org/package/2006/relationships"><Relationship Type="http://schemas.openxmlformats.org/officeDocument/2006/relationships/slide" Target="/ppt/slides/slide8.xml" Id="R440fdf9842c64ffe" /><Relationship Type="http://schemas.openxmlformats.org/officeDocument/2006/relationships/notesMaster" Target="/ppt/notesMasters/notesMaster1.xml" Id="R94dfb9025ebc4b10" /></Relationships>
</file>

<file path=ppt/notesSlides/_rels/notesSlide9.xml.rels>&#65279;<?xml version="1.0" encoding="utf-8"?><Relationships xmlns="http://schemas.openxmlformats.org/package/2006/relationships"><Relationship Type="http://schemas.openxmlformats.org/officeDocument/2006/relationships/slide" Target="/ppt/slides/slide9.xml" Id="R6d0d58cc70234014" /><Relationship Type="http://schemas.openxmlformats.org/officeDocument/2006/relationships/notesMaster" Target="/ppt/notesMasters/notesMaster1.xml" Id="Rdcf24792113840e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Основная часть: 15 секунд. Роман.</a:t>
            </a:r>
          </a:p>
          <a:p xmlns:a="http://schemas.openxmlformats.org/drawingml/2006/main">
            <a:r>
              <a:t>Мы делаем TaskFlow, трекер задач для небольшой команды. На первой защите показываем, как будем разрабатывать его безопасно: какие правила выбрали, что уже проверено и что делает каждый участник.</a:t>
            </a:r>
          </a:p>
          <a:p xmlns:a="http://schemas.openxmlformats.org/drawingml/2006/main">
            <a:r>
              <a:t/>
            </a:r>
          </a:p>
          <a:p xmlns:a="http://schemas.openxmlformats.org/drawingml/2006/main">
            <a:r>
              <a:t>Источники:</a:t>
            </a:r>
          </a:p>
          <a:p xmlns:a="http://schemas.openxmlformats.org/drawingml/2006/main">
            <a:r>
              <a:t>https://github.com/rbeketov/rbpo-yavkaib/blob/main/project.md</a:t>
            </a:r>
          </a:p>
          <a:p xmlns:a="http://schemas.openxmlformats.org/drawingml/2006/main">
            <a:r>
              <a:t>https://github.com/hse-rbpo-master-2026/course/blob/5ce5fdf4ba4bb32ac62d1b9c6728f3a6d8fa6884/seminars/S06.md</a:t>
            </a:r>
          </a:p>
          <a:p xmlns:a="http://schemas.openxmlformats.org/drawingml/2006/main">
            <a:r>
              <a:t>Обложка: иллюстрация OpenAI ImageGen.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Основная часть: 25 секунд. Роман.</a:t>
            </a:r>
          </a:p>
          <a:p xmlns:a="http://schemas.openxmlformats.org/drawingml/2006/main">
            <a:r>
              <a:t>Владелец управляет задачами и участниками. Редактор меняет задачи и пишет комментарии. Наблюдатель только читает. Посторонний не видит чужой проект. Права действуют отдельно в каждом проекте. Приложение работает локально на Django и SQLite, данные учебные. Исходная версия для исследования называется baseline-mvp, будущий выпуск — v1.0.0.</a:t>
            </a:r>
          </a:p>
          <a:p xmlns:a="http://schemas.openxmlformats.org/drawingml/2006/main">
            <a:r>
              <a:t/>
            </a:r>
          </a:p>
          <a:p xmlns:a="http://schemas.openxmlformats.org/drawingml/2006/main">
            <a:r>
              <a:t>Для вопросов:</a:t>
            </a:r>
          </a:p>
          <a:p xmlns:a="http://schemas.openxmlformats.org/drawingml/2006/main">
            <a:r>
              <a:t>Публичный хостинг, вложения и реальные пользовательские данные не входят в область проекта. Один пользователь может иметь разные роли в разных проектах.</a:t>
            </a:r>
          </a:p>
          <a:p xmlns:a="http://schemas.openxmlformats.org/drawingml/2006/main">
            <a:r>
              <a:t/>
            </a:r>
          </a:p>
          <a:p xmlns:a="http://schemas.openxmlformats.org/drawingml/2006/main">
            <a:r>
              <a:t>Источники:</a:t>
            </a:r>
          </a:p>
          <a:p xmlns:a="http://schemas.openxmlformats.org/drawingml/2006/main">
            <a:r>
              <a:t>https://github.com/rbeketov/rbpo-yavkaib/blob/main/project.md</a:t>
            </a:r>
          </a:p>
          <a:p xmlns:a="http://schemas.openxmlformats.org/drawingml/2006/main">
            <a:r>
              <a:t>https://github.com/rbeketov/rbpo-yavkaib/tree/baseline-mvp</a:t>
            </a:r>
          </a:p>
          <a:p xmlns:a="http://schemas.openxmlformats.org/drawingml/2006/main">
            <a:r>
              <a:t>https://github.com/rbeketov/rbpo-yavkaib/blob/main/evidence/ek1/taskflow-board.png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Основная часть: 45 секунд. Роман.</a:t>
            </a:r>
          </a:p>
          <a:p xmlns:a="http://schemas.openxmlformats.org/drawingml/2006/main">
            <a:r>
              <a:t>SSDF отвечает на вопрос, как организовать безопасную разработку. Он охватывает путь от требований до выпуска и исправлений, а способы выполнения мы подбираем под двух человек. Полный текст открыт. Из него мы выбрали семь правил, например проверку кода партнёром и сохранение результатов тестов. ASVS отвечает на вопрос, что именно проверять в веб-приложении: доступ, вход и обработку текста. Вместе получаем и порядок работы, и технические требования. Один SSDF не даёт подробного списка веб-проверок, а ASVS не описывает весь процесс команды.</a:t>
            </a:r>
          </a:p>
          <a:p xmlns:a="http://schemas.openxmlformats.org/drawingml/2006/main">
            <a:r>
              <a:t/>
            </a:r>
          </a:p>
          <a:p xmlns:a="http://schemas.openxmlformats.org/drawingml/2006/main">
            <a:r>
              <a:t>Для вопросов:</a:t>
            </a:r>
          </a:p>
          <a:p xmlns:a="http://schemas.openxmlformats.org/drawingml/2006/main">
            <a:r>
              <a:t>Семь правил в §2 паспорта: PO.1.2, PO.2.1, PS.1.1, PW.7.1–7.2, PW.8.1–8.2, PS.3.1, RV.2.1–2.2. Их действия, роли, результаты и условия принятия описаны отдельно. Полное соответствие SSDF или уровень ASVS не заявляем. ASVS содержит требования, а конкретные тесты команда проектирует сама.</a:t>
            </a:r>
          </a:p>
          <a:p xmlns:a="http://schemas.openxmlformats.org/drawingml/2006/main">
            <a:r>
              <a:t/>
            </a:r>
          </a:p>
          <a:p xmlns:a="http://schemas.openxmlformats.org/drawingml/2006/main">
            <a:r>
              <a:t>Источники:</a:t>
            </a:r>
          </a:p>
          <a:p xmlns:a="http://schemas.openxmlformats.org/drawingml/2006/main">
            <a:r>
              <a:t>https://csrc.nist.gov/pubs/sp/800/218/final</a:t>
            </a:r>
          </a:p>
          <a:p xmlns:a="http://schemas.openxmlformats.org/drawingml/2006/main">
            <a:r>
              <a:t>https://github.com/OWASP/ASVS/tree/v5.0.0</a:t>
            </a:r>
          </a:p>
          <a:p xmlns:a="http://schemas.openxmlformats.org/drawingml/2006/main">
            <a:r>
              <a:t>https://github.com/hse-rbpo-master-2026/course/blob/5ce5fdf4ba4bb32ac62d1b9c6728f3a6d8fa6884/lectures/L03.pdf</a:t>
            </a:r>
          </a:p>
          <a:p xmlns:a="http://schemas.openxmlformats.org/drawingml/2006/main">
            <a:r>
              <a:t>https://github.com/rbeketov/rbpo-yavkaib/blob/main/project.md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Основная часть: 35 секунд. Роман.</a:t>
            </a:r>
          </a:p>
          <a:p xmlns:a="http://schemas.openxmlformats.org/drawingml/2006/main">
            <a:r>
              <a:t>SAMM рассмотрели, потому что он помогает оценивать и улучшать практики команды. Но TaskFlow только начат, истории проверок мало. Сейчас нам важнее установить правила работы. ГОСТ рассмотрели как полноценную основу безопасной разработки. Задание курса разрешает выбрать основу и не требует именно ГОСТ. Мы взяли SSDF: его полный текст открыт, а выбранных практик достаточно для нашей области. Это выбор под задачу, а не утверждение, что SAMM или ГОСТ хуже.</a:t>
            </a:r>
          </a:p>
          <a:p xmlns:a="http://schemas.openxmlformats.org/drawingml/2006/main">
            <a:r>
              <a:t/>
            </a:r>
          </a:p>
          <a:p xmlns:a="http://schemas.openxmlformats.org/drawingml/2006/main">
            <a:r>
              <a:t>Для вопросов:</a:t>
            </a:r>
          </a:p>
          <a:p xmlns:a="http://schemas.openxmlformats.org/drawingml/2006/main">
            <a:r>
              <a:t>SAMM применим и к маленькой команде. Его можно использовать позже для оценки того, насколько устойчиво выполняются правила. ГОСТ не ограничен государственными или сертифицируемыми проектами. Обязательность по закону или договору устанавливается отдельно. Официальная карточка ГОСТ подтверждает сведения о стандарте, но не заменяет полный текст требований. Для альтернативного выбора потребовались бы назначенные положения из ЭИОС или другой законный доступ.</a:t>
            </a:r>
          </a:p>
          <a:p xmlns:a="http://schemas.openxmlformats.org/drawingml/2006/main">
            <a:r>
              <a:t/>
            </a:r>
          </a:p>
          <a:p xmlns:a="http://schemas.openxmlformats.org/drawingml/2006/main">
            <a:r>
              <a:t>Источники:</a:t>
            </a:r>
          </a:p>
          <a:p xmlns:a="http://schemas.openxmlformats.org/drawingml/2006/main">
            <a:r>
              <a:t>https://owaspsamm.org/model/</a:t>
            </a:r>
          </a:p>
          <a:p xmlns:a="http://schemas.openxmlformats.org/drawingml/2006/main">
            <a:r>
              <a:t>https://owaspsamm.org/assessment/</a:t>
            </a:r>
          </a:p>
          <a:p xmlns:a="http://schemas.openxmlformats.org/drawingml/2006/main">
            <a:r>
              <a:t>https://protect.gost.ru/gost/details/f3818925-a96f-4f55-96e9-46b44720ee64</a:t>
            </a:r>
          </a:p>
          <a:p xmlns:a="http://schemas.openxmlformats.org/drawingml/2006/main">
            <a:r>
              <a:t>https://csrc.nist.gov/pubs/sp/800/218/final</a:t>
            </a:r>
          </a:p>
          <a:p xmlns:a="http://schemas.openxmlformats.org/drawingml/2006/main">
            <a:r>
              <a:t>https://github.com/hse-rbpo-master-2026/course/blob/5ce5fdf4ba4bb32ac62d1b9c6728f3a6d8fa6884/seminars/S02.md</a:t>
            </a:r>
          </a:p>
          <a:p xmlns:a="http://schemas.openxmlformats.org/drawingml/2006/main">
            <a:r>
              <a:t>https://github.com/hse-rbpo-master-2026/course/blob/5ce5fdf4ba4bb32ac62d1b9c6728f3a6d8fa6884/lectures/L03.pdf</a:t>
            </a:r>
          </a:p>
          <a:p xmlns:a="http://schemas.openxmlformats.org/drawingml/2006/main">
            <a:r>
              <a:t>https://github.com/hse-rbpo-master-2026/course/blob/5ce5fdf4ba4bb32ac62d1b9c6728f3a6d8fa6884/lectures/L04.pdf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Основная часть: 30 секунд. Ярослав.</a:t>
            </a:r>
          </a:p>
          <a:p xmlns:a="http://schemas.openxmlformats.org/drawingml/2006/main">
            <a:r>
              <a:t>В исходной версии прошли 27 тестов. Результаты и версия кода сохранены. Но на дату исследования, четвёртое октября, в репозитории не было подтверждения независимой проверки вторым участником. Код и тест могут повторять одну ошибку. Поэтому первый шаг — взаимная проверка прав пользователей. Также нужно проверить библиотеки на известные уязвимости и повторить установку из архива.</a:t>
            </a:r>
          </a:p>
          <a:p xmlns:a="http://schemas.openxmlformats.org/drawingml/2006/main">
            <a:r>
              <a:t/>
            </a:r>
          </a:p>
          <a:p xmlns:a="http://schemas.openxmlformats.org/drawingml/2006/main">
            <a:r>
              <a:t>Для вопросов:</a:t>
            </a:r>
          </a:p>
          <a:p xmlns:a="http://schemas.openxmlformats.org/drawingml/2006/main">
            <a:r>
              <a:t>Это срез на 04.10.2026, а не утверждение о состоянии истории в любой будущий момент. G1 имеет высокий приоритет, G2 и G3 — средний. Пять инженерных проверок baseline прошли. Успех тестов не доказывает отсутствие всех уязвимостей. pip check проверяет согласованность зависимостей, но не заменяет аудит известных CVE.</a:t>
            </a:r>
          </a:p>
          <a:p xmlns:a="http://schemas.openxmlformats.org/drawingml/2006/main">
            <a:r>
              <a:t/>
            </a:r>
          </a:p>
          <a:p xmlns:a="http://schemas.openxmlformats.org/drawingml/2006/main">
            <a:r>
              <a:t>Источники:</a:t>
            </a:r>
          </a:p>
          <a:p xmlns:a="http://schemas.openxmlformats.org/drawingml/2006/main">
            <a:r>
              <a:t>https://github.com/rbeketov/rbpo-yavkaib/blob/main/evidence/ek1/verification.json</a:t>
            </a:r>
          </a:p>
          <a:p xmlns:a="http://schemas.openxmlformats.org/drawingml/2006/main">
            <a:r>
              <a:t>https://github.com/rbeketov/rbpo-yavkaib/blob/main/evidence/ek1/repository-observation-selected.json</a:t>
            </a:r>
          </a:p>
          <a:p xmlns:a="http://schemas.openxmlformats.org/drawingml/2006/main">
            <a:r>
              <a:t>https://github.com/rbeketov/rbpo-yavkaib/blob/main/project.md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Основная часть: 50 секунд. Ярослав.</a:t>
            </a:r>
          </a:p>
          <a:p xmlns:a="http://schemas.openxmlformats.org/drawingml/2006/main">
            <a:r>
              <a:t>Перед изменением автор описывает ожидаемое поведение, затем меняет код и запускает тесты. Партнёр читает код и независимо повторяет важный сценарий. Например, наблюдатель отправляет прямой запрос на изменение задачи. Сервер должен отказать, а данные остаться прежними. Такой же запрос от редактора должен сработать. Сохраняем версию кода, условия и результат проверки. Так мы применяем правило SSDF PW.8. Если права нарушены или партнёр не проверил изменение, откладываем его. Перед выпуском Ярослав повторяет установку из архива, Роман собирает результаты. Решение о выпуске принимаем вместе.</a:t>
            </a:r>
          </a:p>
          <a:p xmlns:a="http://schemas.openxmlformats.org/drawingml/2006/main">
            <a:r>
              <a:t/>
            </a:r>
          </a:p>
          <a:p xmlns:a="http://schemas.openxmlformats.org/drawingml/2006/main">
            <a:r>
              <a:t>Для вопросов:</a:t>
            </a:r>
          </a:p>
          <a:p xmlns:a="http://schemas.openxmlformats.org/drawingml/2006/main">
            <a:r>
              <a:t>PW.8.1–8.2 задаёт тестирование исполняемого кода. Сценарий, независимый повтор и правило приёмки являются нашей адаптацией. Нужен контрольный разрешённый запрос от editor, чтобы отличить проверку прав от общей поломки функции. Для версии сохраняем результат CI, отчёт и комментарий проверяющего. Автор не одобряет собственную работу. Некритическое исключение требует записи, срока до семи дней и согласия обоих. Нарушение прав исключением не допускается. При споре откладываем выпуск и обращаемся к преподавателю.</a:t>
            </a:r>
          </a:p>
          <a:p xmlns:a="http://schemas.openxmlformats.org/drawingml/2006/main">
            <a:r>
              <a:t/>
            </a:r>
          </a:p>
          <a:p xmlns:a="http://schemas.openxmlformats.org/drawingml/2006/main">
            <a:r>
              <a:t>Источники:</a:t>
            </a:r>
          </a:p>
          <a:p xmlns:a="http://schemas.openxmlformats.org/drawingml/2006/main">
            <a:r>
              <a:t>https://csrc.nist.gov/pubs/sp/800/218/final</a:t>
            </a:r>
          </a:p>
          <a:p xmlns:a="http://schemas.openxmlformats.org/drawingml/2006/main">
            <a:r>
              <a:t>https://github.com/rbeketov/rbpo-yavkaib/blob/main/project.md</a:t>
            </a:r>
          </a:p>
          <a:p xmlns:a="http://schemas.openxmlformats.org/drawingml/2006/main">
            <a:r>
              <a:t>https://github.com/rbeketov/rbpo-yavkaib/blob/main/CONTRIBUTING.md</a:t>
            </a:r>
          </a:p>
          <a:p xmlns:a="http://schemas.openxmlformats.org/drawingml/2006/main">
            <a:r>
              <a:t>https://github.com/rbeketov/rbpo-yavkaib/blob/main/tracker/tests.py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Основная часть: 40 секунд. Ярослав.</a:t>
            </a:r>
          </a:p>
          <a:p xmlns:a="http://schemas.openxmlformats.org/drawingml/2006/main">
            <a:r>
              <a:t>Роман проверяет права трёх ролей, изоляцию проектов, библиотеки и настройки. Ярослав проверяет ввод и вывод текста, защиту запросов от подделки и установку из архива в чистом окружении. Для каждого уже есть отдельное задание в GitHub. Сначала каждый сохраняет отчёт со своими результатами, затем проверяет работу партнёра. После этого созваниваемся, обсуждаем найденные проблемы и выбираем следующее улучшение. План технических проверок на первой защите предварительный, его уточняем после профильных лекций.</a:t>
            </a:r>
          </a:p>
          <a:p xmlns:a="http://schemas.openxmlformats.org/drawingml/2006/main">
            <a:r>
              <a:t/>
            </a:r>
          </a:p>
          <a:p xmlns:a="http://schemas.openxmlformats.org/drawingml/2006/main">
            <a:r>
              <a:t>Для вопросов:</a:t>
            </a:r>
          </a:p>
          <a:p xmlns:a="http://schemas.openxmlformats.org/drawingml/2006/main">
            <a:r>
              <a:t>М1: права и изоляция, ведущий Роман, проверяющий Ярослав. М2: ввод, вывод и CSRF, ведущий Ярослав, проверяющий Роман. М3: зависимости и воспроизводимость, Роман ведёт аудит и конфигурацию, Ярослав независимо устанавливает архив. CSRF — подделка запроса от имени вошедшего пользователя. Issue Ярослава пока без назначения аккаунту по договорённости.</a:t>
            </a:r>
          </a:p>
          <a:p xmlns:a="http://schemas.openxmlformats.org/drawingml/2006/main">
            <a:r>
              <a:t/>
            </a:r>
          </a:p>
          <a:p xmlns:a="http://schemas.openxmlformats.org/drawingml/2006/main">
            <a:r>
              <a:t>Источники:</a:t>
            </a:r>
          </a:p>
          <a:p xmlns:a="http://schemas.openxmlformats.org/drawingml/2006/main">
            <a:r>
              <a:t>https://github.com/rbeketov/rbpo-yavkaib/blob/main/docs/work-plan.md</a:t>
            </a:r>
          </a:p>
          <a:p xmlns:a="http://schemas.openxmlformats.org/drawingml/2006/main">
            <a:r>
              <a:t>https://github.com/rbeketov/rbpo-yavkaib/issues/1</a:t>
            </a:r>
          </a:p>
          <a:p xmlns:a="http://schemas.openxmlformats.org/drawingml/2006/main">
            <a:r>
              <a:t>https://github.com/rbeketov/rbpo-yavkaib/issues/2</a:t>
            </a:r>
          </a:p>
          <a:p xmlns:a="http://schemas.openxmlformats.org/drawingml/2006/main">
            <a:r>
              <a:t>https://github.com/hse-rbpo-master-2026/course/blob/5ce5fdf4ba4bb32ac62d1b9c6728f3a6d8fa6884/seminars/S06.md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Приложение для вопросов.</a:t>
            </a:r>
          </a:p>
          <a:p xmlns:a="http://schemas.openxmlformats.org/drawingml/2006/main">
            <a:r>
              <a:t>ISO/IEC 27034-1 рассмотрели из-за управления безопасностью приложений на уровне организации. В нашей паре нет отдельной организационной задачи, ради которой стоит брать его основой. IEC 62443-4-1 связан с промышленной автоматизацией, TaskFlow находится вне этой области. BSIMM описывает наблюдаемые практики организаций. Сравнение с ними сейчас не является целью проекта.</a:t>
            </a:r>
          </a:p>
          <a:p xmlns:a="http://schemas.openxmlformats.org/drawingml/2006/main">
            <a:r>
              <a:t/>
            </a:r>
          </a:p>
          <a:p xmlns:a="http://schemas.openxmlformats.org/drawingml/2006/main">
            <a:r>
              <a:t>Для вопросов:</a:t>
            </a:r>
          </a:p>
          <a:p xmlns:a="http://schemas.openxmlformats.org/drawingml/2006/main">
            <a:r>
              <a:t>ISO и IEC сопоставлены по назначению и области, а не по полному постатейному аудиту. Карточки стандартов не заменяют их полные тексты. На Л04 BSIMM сопоставляется с SAMM как описательная модель с предписывающей. Размер команды сам по себе не делает ISO/IEC 27034 неприменимым.</a:t>
            </a:r>
          </a:p>
          <a:p xmlns:a="http://schemas.openxmlformats.org/drawingml/2006/main">
            <a:r>
              <a:t/>
            </a:r>
          </a:p>
          <a:p xmlns:a="http://schemas.openxmlformats.org/drawingml/2006/main">
            <a:r>
              <a:t>Источники:</a:t>
            </a:r>
          </a:p>
          <a:p xmlns:a="http://schemas.openxmlformats.org/drawingml/2006/main">
            <a:r>
              <a:t>https://www.iso.org/standard/44378.html</a:t>
            </a:r>
          </a:p>
          <a:p xmlns:a="http://schemas.openxmlformats.org/drawingml/2006/main">
            <a:r>
              <a:t>https://webstore.iec.ch/en/publication/33615</a:t>
            </a:r>
          </a:p>
          <a:p xmlns:a="http://schemas.openxmlformats.org/drawingml/2006/main">
            <a:r>
              <a:t>https://github.com/hse-rbpo-master-2026/course/blob/5ce5fdf4ba4bb32ac62d1b9c6728f3a6d8fa6884/lectures/L03.pdf</a:t>
            </a:r>
          </a:p>
          <a:p xmlns:a="http://schemas.openxmlformats.org/drawingml/2006/main">
            <a:r>
              <a:t>https://github.com/hse-rbpo-master-2026/course/blob/5ce5fdf4ba4bb32ac62d1b9c6728f3a6d8fa6884/lectures/L04.pdf</a:t>
            </a:r>
          </a:p>
          <a:p xmlns:a="http://schemas.openxmlformats.org/drawingml/2006/main">
            <a:r>
              <a:t>https://github.com/rbeketov/rbpo-yavkaib/blob/main/docs/methodology-options.md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Приложение для вопросов.</a:t>
            </a:r>
          </a:p>
          <a:p xmlns:a="http://schemas.openxmlformats.org/drawingml/2006/main">
            <a:r>
              <a:t>Использовали Codex для подготовки текста, кода, тестов и слайдов, а также для предложений по методологии и плану. Выбор продукта и варианта A сделал участник команды. Ответственность за решения остаётся у участников. Проверки с помощью ИИ не выдаём за независимую проверку человеком.</a:t>
            </a:r>
          </a:p>
          <a:p xmlns:a="http://schemas.openxmlformats.org/drawingml/2006/main">
            <a:r>
              <a:t/>
            </a:r>
          </a:p>
          <a:p xmlns:a="http://schemas.openxmlformats.org/drawingml/2006/main">
            <a:r>
              <a:t>Для вопросов:</a:t>
            </a:r>
          </a:p>
          <a:p xmlns:a="http://schemas.openxmlformats.org/drawingml/2006/main">
            <a:r>
              <a:t>Подробное раскрытие применения ИИ находится в §12 паспорта. Изображение обложки сгенерировано OpenAI ImageGen. Проверка партнёром и совместное решение о выпуске на слайде описывают целевой порядок работы, а не утверждение о уже завершённых действиях.</a:t>
            </a:r>
          </a:p>
          <a:p xmlns:a="http://schemas.openxmlformats.org/drawingml/2006/main">
            <a:r>
              <a:t/>
            </a:r>
          </a:p>
          <a:p xmlns:a="http://schemas.openxmlformats.org/drawingml/2006/main">
            <a:r>
              <a:t>Источники:</a:t>
            </a:r>
          </a:p>
          <a:p xmlns:a="http://schemas.openxmlformats.org/drawingml/2006/main">
            <a:r>
              <a:t>https://github.com/rbeketov/rbpo-yavkaib/blob/main/project.md</a:t>
            </a:r>
          </a:p>
          <a:p xmlns:a="http://schemas.openxmlformats.org/drawingml/2006/main">
            <a:r>
              <a:t>https://github.com/hse-rbpo-master-2026/course/blob/5ce5fdf4ba4bb32ac62d1b9c6728f3a6d8fa6884/ai-usage.md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151cad2d9da42a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ebcfadf965b4591" /><Relationship Type="http://schemas.openxmlformats.org/officeDocument/2006/relationships/slideLayout" Target="/ppt/slideLayouts/slideLayout1.xml" Id="R6e5b5d390bfd49d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e5b5d390bfd49d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97b3141ec9214e84" /><Relationship Type="http://schemas.openxmlformats.org/officeDocument/2006/relationships/image" Target="/ppt/media/image.png" Id="R45c287352e9a4218" /><Relationship Type="http://schemas.openxmlformats.org/officeDocument/2006/relationships/notesSlide" Target="/ppt/notesSlides/notesSlide1.xml" Id="R94fe1bcbeb874c20"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34f84ae923af4736" /><Relationship Type="http://schemas.openxmlformats.org/officeDocument/2006/relationships/image" Target="/ppt/media/image.jpeg" Id="R00259ca12bd84432" /><Relationship Type="http://schemas.openxmlformats.org/officeDocument/2006/relationships/notesSlide" Target="/ppt/notesSlides/notesSlide2.xml" Id="R50d0e916406c4471"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3c35b48955314d5d" /><Relationship Type="http://schemas.openxmlformats.org/officeDocument/2006/relationships/notesSlide" Target="/ppt/notesSlides/notesSlide3.xml" Id="Rc7e4d2e40fb24fd3"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714efb7d9688410c" /><Relationship Type="http://schemas.openxmlformats.org/officeDocument/2006/relationships/notesSlide" Target="/ppt/notesSlides/notesSlide4.xml" Id="R90c382d727004e95"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99e36beb015f4dc6" /><Relationship Type="http://schemas.openxmlformats.org/officeDocument/2006/relationships/notesSlide" Target="/ppt/notesSlides/notesSlide5.xml" Id="R50ec1d814af64e92"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d3f20478c934498e" /><Relationship Type="http://schemas.openxmlformats.org/officeDocument/2006/relationships/notesSlide" Target="/ppt/notesSlides/notesSlide6.xml" Id="R9601bae4258f4ab6"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6ce0d1edaa614094" /><Relationship Type="http://schemas.openxmlformats.org/officeDocument/2006/relationships/notesSlide" Target="/ppt/notesSlides/notesSlide7.xml" Id="R8f1cb9335cac4eca"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90041ce581634256" /><Relationship Type="http://schemas.openxmlformats.org/officeDocument/2006/relationships/notesSlide" Target="/ppt/notesSlides/notesSlide8.xml" Id="Rea53a971952f43ec"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6c9dd1d0491f4a5f" /><Relationship Type="http://schemas.openxmlformats.org/officeDocument/2006/relationships/notesSlide" Target="/ppt/notesSlides/notesSlide9.xml" Id="Re62def37253746f1" /></Relationships>
</file>

<file path=ppt/slides/slide1.xml><?xml version="1.0" encoding="utf-8"?>
<p:sld xmlns:p="http://schemas.openxmlformats.org/presentationml/2006/main">
  <p:cSld>
    <p:bg>
      <p:bgPr>
        <a:solidFill xmlns:a="http://schemas.openxmlformats.org/drawingml/2006/main">
          <a:srgbClr val="102A30"/>
        </a:solidFill>
      </p:bgPr>
    </p:bg>
    <p:spTree>
      <p:nvGrpSpPr>
        <p:cNvPr id="1" name=""/>
        <p:cNvGrpSpPr/>
        <p:nvPr/>
      </p:nvGrpSpPr>
      <p:grpSpPr>
        <a:xfrm xmlns:a="http://schemas.openxmlformats.org/drawingml/2006/main"/>
      </p:grpSpPr>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45c287352e9a4218"/>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0046760C-E993-4424-A36D-3170D6ED49F7}"/>
              </a:ext>
            </a:extLst>
          </p:cNvPr>
          <p:cNvSpPr>
            <a:spLocks xmlns:a="http://schemas.openxmlformats.org/drawingml/2006/main" noGrp="1"/>
          </p:cNvSpPr>
          <p:nvPr/>
        </p:nvSpPr>
        <p:spPr>
          <a:xfrm xmlns:a="http://schemas.openxmlformats.org/drawingml/2006/main">
            <a:off x="609600" y="523875"/>
            <a:ext cx="7620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425" b="1">
                <a:solidFill>
                  <a:srgbClr val="A9DBCB"/>
                </a:solidFill>
                <a:latin typeface="Helvetica Neue"/>
                <a:ea typeface="Helvetica Neue"/>
                <a:cs typeface="Helvetica Neue"/>
              </a:defRPr>
            </a:pPr>
            <a:r>
              <a:rPr sz="1425" b="1">
                <a:solidFill>
                  <a:srgbClr val="A9DBCB"/>
                </a:solidFill>
                <a:latin typeface="Helvetica Neue"/>
                <a:ea typeface="Helvetica Neue"/>
                <a:cs typeface="Helvetica Neue"/>
              </a:rPr>
              <a:t>ЯВКАИБ / РАЗРАБОТКА БЕЗОПАСНОГО ПО</a:t>
            </a:r>
          </a:p>
        </p:txBody>
      </p:sp>
      <p:sp>
        <p:nvSpPr>
          <p:cNvPr id="3" name="">
            <a:extLst xmlns:a="http://schemas.openxmlformats.org/drawingml/2006/main">
              <a:ext uri="{FF2B5EF4-FFF2-40B4-BE49-F238E27FC236}">
                <a16:creationId xmlns:a16="http://schemas.microsoft.com/office/drawing/2014/main" id="{729ADD4E-0479-424C-8B04-E04B1C688BEF}"/>
              </a:ext>
            </a:extLst>
          </p:cNvPr>
          <p:cNvSpPr>
            <a:spLocks xmlns:a="http://schemas.openxmlformats.org/drawingml/2006/main" noGrp="1"/>
          </p:cNvSpPr>
          <p:nvPr/>
        </p:nvSpPr>
        <p:spPr>
          <a:xfrm xmlns:a="http://schemas.openxmlformats.org/drawingml/2006/main">
            <a:off x="609600" y="1685925"/>
            <a:ext cx="6000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5700" b="1">
                <a:solidFill>
                  <a:srgbClr val="FFFFFF"/>
                </a:solidFill>
                <a:latin typeface="Helvetica Neue"/>
                <a:ea typeface="Helvetica Neue"/>
                <a:cs typeface="Helvetica Neue"/>
              </a:defRPr>
            </a:pPr>
            <a:r>
              <a:rPr sz="5700" b="1">
                <a:solidFill>
                  <a:srgbClr val="FFFFFF"/>
                </a:solidFill>
                <a:latin typeface="Helvetica Neue"/>
                <a:ea typeface="Helvetica Neue"/>
                <a:cs typeface="Helvetica Neue"/>
              </a:rPr>
              <a:t>TaskFlow</a:t>
            </a:r>
          </a:p>
        </p:txBody>
      </p:sp>
      <p:sp>
        <p:nvSpPr>
          <p:cNvPr id="4" name="">
            <a:extLst xmlns:a="http://schemas.openxmlformats.org/drawingml/2006/main">
              <a:ext uri="{FF2B5EF4-FFF2-40B4-BE49-F238E27FC236}">
                <a16:creationId xmlns:a16="http://schemas.microsoft.com/office/drawing/2014/main" id="{B2AF9B92-B529-4E24-8377-C9A92517D43E}"/>
              </a:ext>
            </a:extLst>
          </p:cNvPr>
          <p:cNvSpPr>
            <a:spLocks xmlns:a="http://schemas.openxmlformats.org/drawingml/2006/main" noGrp="1"/>
          </p:cNvSpPr>
          <p:nvPr/>
        </p:nvSpPr>
        <p:spPr>
          <a:xfrm xmlns:a="http://schemas.openxmlformats.org/drawingml/2006/main">
            <a:off x="609600" y="2762250"/>
            <a:ext cx="600075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850" b="0">
                <a:solidFill>
                  <a:srgbClr val="F2F5F0"/>
                </a:solidFill>
                <a:latin typeface="Helvetica Neue"/>
                <a:ea typeface="Helvetica Neue"/>
                <a:cs typeface="Helvetica Neue"/>
              </a:defRPr>
            </a:pPr>
            <a:r>
              <a:rPr sz="2850" b="0">
                <a:solidFill>
                  <a:srgbClr val="F2F5F0"/>
                </a:solidFill>
                <a:latin typeface="Helvetica Neue"/>
                <a:ea typeface="Helvetica Neue"/>
                <a:cs typeface="Helvetica Neue"/>
              </a:rPr>
              <a:t>Безопасная разработка</a:t>
            </a:r>
          </a:p>
          <a:p xmlns:a="http://schemas.openxmlformats.org/drawingml/2006/main">
            <a:pPr>
              <a:buNone/>
              <a:defRPr sz="2850" b="0">
                <a:solidFill>
                  <a:srgbClr val="F2F5F0"/>
                </a:solidFill>
                <a:latin typeface="Helvetica Neue"/>
                <a:ea typeface="Helvetica Neue"/>
                <a:cs typeface="Helvetica Neue"/>
              </a:defRPr>
            </a:pPr>
            <a:r>
              <a:rPr sz="2850" b="0">
                <a:solidFill>
                  <a:srgbClr val="F2F5F0"/>
                </a:solidFill>
                <a:latin typeface="Helvetica Neue"/>
                <a:ea typeface="Helvetica Neue"/>
                <a:cs typeface="Helvetica Neue"/>
              </a:rPr>
              <a:t>трекера задач</a:t>
            </a:r>
          </a:p>
        </p:txBody>
      </p:sp>
      <p:sp>
        <p:nvSpPr>
          <p:cNvPr id="5" name="">
            <a:extLst xmlns:a="http://schemas.openxmlformats.org/drawingml/2006/main">
              <a:ext uri="{FF2B5EF4-FFF2-40B4-BE49-F238E27FC236}">
                <a16:creationId xmlns:a16="http://schemas.microsoft.com/office/drawing/2014/main" id="{4241B4E7-74A5-4CC1-BCF4-BE77AF09F0EC}"/>
              </a:ext>
            </a:extLst>
          </p:cNvPr>
          <p:cNvSpPr>
            <a:spLocks xmlns:a="http://schemas.openxmlformats.org/drawingml/2006/main" noGrp="1"/>
          </p:cNvSpPr>
          <p:nvPr/>
        </p:nvSpPr>
        <p:spPr>
          <a:xfrm xmlns:a="http://schemas.openxmlformats.org/drawingml/2006/main">
            <a:off x="609600" y="5181600"/>
            <a:ext cx="7048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75" b="0">
                <a:solidFill>
                  <a:srgbClr val="E0ECE7"/>
                </a:solidFill>
                <a:latin typeface="Helvetica Neue"/>
                <a:ea typeface="Helvetica Neue"/>
                <a:cs typeface="Helvetica Neue"/>
              </a:defRPr>
            </a:pPr>
            <a:r>
              <a:rPr sz="1875" b="0">
                <a:solidFill>
                  <a:srgbClr val="E0ECE7"/>
                </a:solidFill>
                <a:latin typeface="Helvetica Neue"/>
                <a:ea typeface="Helvetica Neue"/>
                <a:cs typeface="Helvetica Neue"/>
              </a:rPr>
              <a:t>Бекетов Роман Александрович</a:t>
            </a:r>
          </a:p>
          <a:p xmlns:a="http://schemas.openxmlformats.org/drawingml/2006/main">
            <a:pPr>
              <a:buNone/>
              <a:defRPr sz="1875" b="0">
                <a:solidFill>
                  <a:srgbClr val="E0ECE7"/>
                </a:solidFill>
                <a:latin typeface="Helvetica Neue"/>
                <a:ea typeface="Helvetica Neue"/>
                <a:cs typeface="Helvetica Neue"/>
              </a:defRPr>
            </a:pPr>
            <a:r>
              <a:rPr sz="1875" b="0">
                <a:solidFill>
                  <a:srgbClr val="E0ECE7"/>
                </a:solidFill>
                <a:latin typeface="Helvetica Neue"/>
                <a:ea typeface="Helvetica Neue"/>
                <a:cs typeface="Helvetica Neue"/>
              </a:rPr>
              <a:t>Кузьмин Ярослав Артёмович</a:t>
            </a:r>
          </a:p>
        </p:txBody>
      </p:sp>
      <p:sp>
        <p:nvSpPr>
          <p:cNvPr id="6" name="">
            <a:extLst xmlns:a="http://schemas.openxmlformats.org/drawingml/2006/main">
              <a:ext uri="{FF2B5EF4-FFF2-40B4-BE49-F238E27FC236}">
                <a16:creationId xmlns:a16="http://schemas.microsoft.com/office/drawing/2014/main" id="{47D81890-5C67-419E-8F98-319DB4BA09A2}"/>
              </a:ext>
            </a:extLst>
          </p:cNvPr>
          <p:cNvSpPr>
            <a:spLocks xmlns:a="http://schemas.openxmlformats.org/drawingml/2006/main" noGrp="1"/>
          </p:cNvSpPr>
          <p:nvPr/>
        </p:nvSpPr>
        <p:spPr>
          <a:xfrm xmlns:a="http://schemas.openxmlformats.org/drawingml/2006/main">
            <a:off x="609600" y="6324600"/>
            <a:ext cx="6191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350" b="0">
                <a:solidFill>
                  <a:srgbClr val="A9DBCB"/>
                </a:solidFill>
                <a:latin typeface="Helvetica Neue"/>
                <a:ea typeface="Helvetica Neue"/>
                <a:cs typeface="Helvetica Neue"/>
              </a:defRPr>
            </a:pPr>
            <a:r>
              <a:rPr sz="1350" b="0">
                <a:solidFill>
                  <a:srgbClr val="A9DBCB"/>
                </a:solidFill>
                <a:latin typeface="Helvetica Neue"/>
                <a:ea typeface="Helvetica Neue"/>
                <a:cs typeface="Helvetica Neue"/>
              </a:rPr>
              <a:t>ЭК1 / 2026</a:t>
            </a:r>
          </a:p>
        </p:txBody>
      </p:sp>
    </p:spTree>
    <p:extLst>
      <p:ext uri="{BB962C8B-B14F-4D97-AF65-F5344CB8AC3E}">
        <p14:creationId xmlns:p14="http://schemas.microsoft.com/office/powerpoint/2010/main" val="1012403759"/>
      </p:ext>
    </p:extLst>
  </p:cSld>
</p:sld>
</file>

<file path=ppt/slides/slide2.xml><?xml version="1.0" encoding="utf-8"?>
<p:sld xmlns:p="http://schemas.openxmlformats.org/presentationml/2006/main">
  <p:cSld>
    <p:bg>
      <p:bgPr>
        <a:solidFill xmlns:a="http://schemas.openxmlformats.org/drawingml/2006/main">
          <a:srgbClr val="F7F6F1"/>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389D2F82-7021-41C6-AFE8-33FB3DCFD8CF}"/>
              </a:ext>
            </a:extLst>
          </p:cNvPr>
          <p:cNvSpPr>
            <a:spLocks xmlns:a="http://schemas.openxmlformats.org/drawingml/2006/main" noGrp="1"/>
          </p:cNvSpPr>
          <p:nvPr/>
        </p:nvSpPr>
        <p:spPr>
          <a:xfrm xmlns:a="http://schemas.openxmlformats.org/drawingml/2006/main">
            <a:off x="609600" y="304800"/>
            <a:ext cx="10763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350" b="1">
                <a:solidFill>
                  <a:srgbClr val="26756C"/>
                </a:solidFill>
                <a:latin typeface="Helvetica Neue"/>
                <a:ea typeface="Helvetica Neue"/>
                <a:cs typeface="Helvetica Neue"/>
              </a:defRPr>
            </a:pPr>
            <a:r>
              <a:rPr sz="1350" b="1">
                <a:solidFill>
                  <a:srgbClr val="26756C"/>
                </a:solidFill>
                <a:latin typeface="Helvetica Neue"/>
                <a:ea typeface="Helvetica Neue"/>
                <a:cs typeface="Helvetica Neue"/>
              </a:rPr>
              <a:t>КОНЦЕПЦИЯ БЕЗОПАСНОЙ РАЗРАБОТКИ</a:t>
            </a:r>
          </a:p>
        </p:txBody>
      </p:sp>
      <p:sp>
        <p:nvSpPr>
          <p:cNvPr id="2" name="">
            <a:extLst xmlns:a="http://schemas.openxmlformats.org/drawingml/2006/main">
              <a:ext uri="{FF2B5EF4-FFF2-40B4-BE49-F238E27FC236}">
                <a16:creationId xmlns:a16="http://schemas.microsoft.com/office/drawing/2014/main" id="{7E6EB9DD-F427-4B7C-AF58-BFF791573D73}"/>
              </a:ext>
            </a:extLst>
          </p:cNvPr>
          <p:cNvSpPr>
            <a:spLocks xmlns:a="http://schemas.openxmlformats.org/drawingml/2006/main" noGrp="1"/>
          </p:cNvSpPr>
          <p:nvPr/>
        </p:nvSpPr>
        <p:spPr>
          <a:xfrm xmlns:a="http://schemas.openxmlformats.org/drawingml/2006/main">
            <a:off x="609600" y="838200"/>
            <a:ext cx="109728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300" b="1">
                <a:solidFill>
                  <a:srgbClr val="102A30"/>
                </a:solidFill>
                <a:latin typeface="Helvetica Neue"/>
                <a:ea typeface="Helvetica Neue"/>
                <a:cs typeface="Helvetica Neue"/>
              </a:defRPr>
            </a:pPr>
            <a:r>
              <a:rPr sz="3300" b="1">
                <a:solidFill>
                  <a:srgbClr val="102A30"/>
                </a:solidFill>
                <a:latin typeface="Helvetica Neue"/>
                <a:ea typeface="Helvetica Neue"/>
                <a:cs typeface="Helvetica Neue"/>
              </a:rPr>
              <a:t>TaskFlow и три роли</a:t>
            </a:r>
          </a:p>
        </p:txBody>
      </p:sp>
      <p:sp>
        <p:nvSpPr>
          <p:cNvPr id="3" name="">
            <a:extLst xmlns:a="http://schemas.openxmlformats.org/drawingml/2006/main">
              <a:ext uri="{FF2B5EF4-FFF2-40B4-BE49-F238E27FC236}">
                <a16:creationId xmlns:a16="http://schemas.microsoft.com/office/drawing/2014/main" id="{1D6791B5-6D28-4EBC-BEA3-C041BE149D82}"/>
              </a:ext>
            </a:extLst>
          </p:cNvPr>
          <p:cNvSpPr>
            <a:spLocks xmlns:a="http://schemas.openxmlformats.org/drawingml/2006/main" noGrp="1"/>
          </p:cNvSpPr>
          <p:nvPr/>
        </p:nvSpPr>
        <p:spPr>
          <a:xfrm xmlns:a="http://schemas.openxmlformats.org/drawingml/2006/main">
            <a:off x="609600" y="6372225"/>
            <a:ext cx="10001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350" b="0">
                <a:solidFill>
                  <a:srgbClr val="59686B"/>
                </a:solidFill>
                <a:latin typeface="Helvetica Neue"/>
                <a:ea typeface="Helvetica Neue"/>
                <a:cs typeface="Helvetica Neue"/>
              </a:defRPr>
            </a:pPr>
            <a:r>
              <a:rPr sz="1350" b="0">
                <a:solidFill>
                  <a:srgbClr val="59686B"/>
                </a:solidFill>
                <a:latin typeface="Helvetica Neue"/>
                <a:ea typeface="Helvetica Neue"/>
                <a:cs typeface="Helvetica Neue"/>
              </a:rPr>
              <a:t>ЯвкаИБ / TaskFlow / ЭК1</a:t>
            </a:r>
          </a:p>
        </p:txBody>
      </p:sp>
      <p:sp>
        <p:nvSpPr>
          <p:cNvPr id="4" name="">
            <a:extLst xmlns:a="http://schemas.openxmlformats.org/drawingml/2006/main">
              <a:ext uri="{FF2B5EF4-FFF2-40B4-BE49-F238E27FC236}">
                <a16:creationId xmlns:a16="http://schemas.microsoft.com/office/drawing/2014/main" id="{B17AB752-CD1B-445C-B128-8ADB482A7A8D}"/>
              </a:ext>
            </a:extLst>
          </p:cNvPr>
          <p:cNvSpPr>
            <a:spLocks xmlns:a="http://schemas.openxmlformats.org/drawingml/2006/main" noGrp="1"/>
          </p:cNvSpPr>
          <p:nvPr/>
        </p:nvSpPr>
        <p:spPr>
          <a:xfrm xmlns:a="http://schemas.openxmlformats.org/drawingml/2006/main">
            <a:off x="11029950" y="6324600"/>
            <a:ext cx="619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00" b="1">
                <a:solidFill>
                  <a:srgbClr val="26756C"/>
                </a:solidFill>
                <a:latin typeface="Helvetica Neue"/>
                <a:ea typeface="Helvetica Neue"/>
                <a:cs typeface="Helvetica Neue"/>
              </a:defRPr>
            </a:pPr>
            <a:r>
              <a:rPr sz="1800" b="1">
                <a:solidFill>
                  <a:srgbClr val="26756C"/>
                </a:solidFill>
                <a:latin typeface="Helvetica Neue"/>
                <a:ea typeface="Helvetica Neue"/>
                <a:cs typeface="Helvetica Neue"/>
              </a:rPr>
              <a:t>02</a:t>
            </a:r>
          </a:p>
        </p:txBody>
      </p:sp>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00259ca12bd84432"/>
          <a:stretch xmlns:a="http://schemas.openxmlformats.org/drawingml/2006/main"/>
        </p:blipFill>
        <p:spPr>
          <a:xfrm xmlns:a="http://schemas.openxmlformats.org/drawingml/2006/main">
            <a:off x="609600" y="2085975"/>
            <a:ext cx="6858000" cy="3857625"/>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29D62C8C-C912-421B-801A-DB64D432FD56}"/>
              </a:ext>
            </a:extLst>
          </p:cNvPr>
          <p:cNvSpPr>
            <a:spLocks xmlns:a="http://schemas.openxmlformats.org/drawingml/2006/main" noGrp="1"/>
          </p:cNvSpPr>
          <p:nvPr/>
        </p:nvSpPr>
        <p:spPr>
          <a:xfrm xmlns:a="http://schemas.openxmlformats.org/drawingml/2006/main">
            <a:off x="7924800" y="2009775"/>
            <a:ext cx="36671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00" b="1">
                <a:solidFill>
                  <a:srgbClr val="26756C"/>
                </a:solidFill>
                <a:latin typeface="Helvetica Neue"/>
                <a:ea typeface="Helvetica Neue"/>
                <a:cs typeface="Helvetica Neue"/>
              </a:defRPr>
            </a:pPr>
            <a:r>
              <a:rPr sz="2100" b="1">
                <a:solidFill>
                  <a:srgbClr val="26756C"/>
                </a:solidFill>
                <a:latin typeface="Helvetica Neue"/>
                <a:ea typeface="Helvetica Neue"/>
                <a:cs typeface="Helvetica Neue"/>
              </a:rPr>
              <a:t>Владелец</a:t>
            </a:r>
          </a:p>
        </p:txBody>
      </p:sp>
      <p:sp>
        <p:nvSpPr>
          <p:cNvPr id="7" name="">
            <a:extLst xmlns:a="http://schemas.openxmlformats.org/drawingml/2006/main">
              <a:ext uri="{FF2B5EF4-FFF2-40B4-BE49-F238E27FC236}">
                <a16:creationId xmlns:a16="http://schemas.microsoft.com/office/drawing/2014/main" id="{1E0831E5-7616-4CF8-8171-6A438313C3D8}"/>
              </a:ext>
            </a:extLst>
          </p:cNvPr>
          <p:cNvSpPr>
            <a:spLocks xmlns:a="http://schemas.openxmlformats.org/drawingml/2006/main" noGrp="1"/>
          </p:cNvSpPr>
          <p:nvPr/>
        </p:nvSpPr>
        <p:spPr>
          <a:xfrm xmlns:a="http://schemas.openxmlformats.org/drawingml/2006/main">
            <a:off x="7924800" y="2409825"/>
            <a:ext cx="36671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950" b="0">
                <a:solidFill>
                  <a:srgbClr val="102A30"/>
                </a:solidFill>
                <a:latin typeface="Helvetica Neue"/>
                <a:ea typeface="Helvetica Neue"/>
                <a:cs typeface="Helvetica Neue"/>
              </a:defRPr>
            </a:pPr>
            <a:r>
              <a:rPr sz="1950" b="0">
                <a:solidFill>
                  <a:srgbClr val="102A30"/>
                </a:solidFill>
                <a:latin typeface="Helvetica Neue"/>
                <a:ea typeface="Helvetica Neue"/>
                <a:cs typeface="Helvetica Neue"/>
              </a:rPr>
              <a:t>Задачи, участники, удаление</a:t>
            </a:r>
          </a:p>
        </p:txBody>
      </p:sp>
      <p:sp>
        <p:nvSpPr>
          <p:cNvPr id="8" name="">
            <a:extLst xmlns:a="http://schemas.openxmlformats.org/drawingml/2006/main">
              <a:ext uri="{FF2B5EF4-FFF2-40B4-BE49-F238E27FC236}">
                <a16:creationId xmlns:a16="http://schemas.microsoft.com/office/drawing/2014/main" id="{6C8D38DE-6B9C-42C3-87EB-44D4C4C4DDB1}"/>
              </a:ext>
            </a:extLst>
          </p:cNvPr>
          <p:cNvSpPr>
            <a:spLocks xmlns:a="http://schemas.openxmlformats.org/drawingml/2006/main" noGrp="1"/>
          </p:cNvSpPr>
          <p:nvPr/>
        </p:nvSpPr>
        <p:spPr>
          <a:xfrm xmlns:a="http://schemas.openxmlformats.org/drawingml/2006/main">
            <a:off x="7924800" y="3143250"/>
            <a:ext cx="36671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00" b="1">
                <a:solidFill>
                  <a:srgbClr val="26756C"/>
                </a:solidFill>
                <a:latin typeface="Helvetica Neue"/>
                <a:ea typeface="Helvetica Neue"/>
                <a:cs typeface="Helvetica Neue"/>
              </a:defRPr>
            </a:pPr>
            <a:r>
              <a:rPr sz="2100" b="1">
                <a:solidFill>
                  <a:srgbClr val="26756C"/>
                </a:solidFill>
                <a:latin typeface="Helvetica Neue"/>
                <a:ea typeface="Helvetica Neue"/>
                <a:cs typeface="Helvetica Neue"/>
              </a:rPr>
              <a:t>Редактор</a:t>
            </a:r>
          </a:p>
        </p:txBody>
      </p:sp>
      <p:sp>
        <p:nvSpPr>
          <p:cNvPr id="9" name="">
            <a:extLst xmlns:a="http://schemas.openxmlformats.org/drawingml/2006/main">
              <a:ext uri="{FF2B5EF4-FFF2-40B4-BE49-F238E27FC236}">
                <a16:creationId xmlns:a16="http://schemas.microsoft.com/office/drawing/2014/main" id="{B40A714E-0660-4245-985A-820749D7F303}"/>
              </a:ext>
            </a:extLst>
          </p:cNvPr>
          <p:cNvSpPr>
            <a:spLocks xmlns:a="http://schemas.openxmlformats.org/drawingml/2006/main" noGrp="1"/>
          </p:cNvSpPr>
          <p:nvPr/>
        </p:nvSpPr>
        <p:spPr>
          <a:xfrm xmlns:a="http://schemas.openxmlformats.org/drawingml/2006/main">
            <a:off x="7924800" y="3543300"/>
            <a:ext cx="366712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950" b="0">
                <a:solidFill>
                  <a:srgbClr val="102A30"/>
                </a:solidFill>
                <a:latin typeface="Helvetica Neue"/>
                <a:ea typeface="Helvetica Neue"/>
                <a:cs typeface="Helvetica Neue"/>
              </a:defRPr>
            </a:pPr>
            <a:r>
              <a:rPr sz="1950" b="0">
                <a:solidFill>
                  <a:srgbClr val="102A30"/>
                </a:solidFill>
                <a:latin typeface="Helvetica Neue"/>
                <a:ea typeface="Helvetica Neue"/>
                <a:cs typeface="Helvetica Neue"/>
              </a:rPr>
              <a:t>Задачи и комментарии</a:t>
            </a:r>
          </a:p>
        </p:txBody>
      </p:sp>
      <p:sp>
        <p:nvSpPr>
          <p:cNvPr id="10" name="">
            <a:extLst xmlns:a="http://schemas.openxmlformats.org/drawingml/2006/main">
              <a:ext uri="{FF2B5EF4-FFF2-40B4-BE49-F238E27FC236}">
                <a16:creationId xmlns:a16="http://schemas.microsoft.com/office/drawing/2014/main" id="{259A66B2-12F0-4C60-9FD9-D40777461F81}"/>
              </a:ext>
            </a:extLst>
          </p:cNvPr>
          <p:cNvSpPr>
            <a:spLocks xmlns:a="http://schemas.openxmlformats.org/drawingml/2006/main" noGrp="1"/>
          </p:cNvSpPr>
          <p:nvPr/>
        </p:nvSpPr>
        <p:spPr>
          <a:xfrm xmlns:a="http://schemas.openxmlformats.org/drawingml/2006/main">
            <a:off x="7924800" y="4200525"/>
            <a:ext cx="36671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00" b="1">
                <a:solidFill>
                  <a:srgbClr val="26756C"/>
                </a:solidFill>
                <a:latin typeface="Helvetica Neue"/>
                <a:ea typeface="Helvetica Neue"/>
                <a:cs typeface="Helvetica Neue"/>
              </a:defRPr>
            </a:pPr>
            <a:r>
              <a:rPr sz="2100" b="1">
                <a:solidFill>
                  <a:srgbClr val="26756C"/>
                </a:solidFill>
                <a:latin typeface="Helvetica Neue"/>
                <a:ea typeface="Helvetica Neue"/>
                <a:cs typeface="Helvetica Neue"/>
              </a:rPr>
              <a:t>Наблюдатель</a:t>
            </a:r>
          </a:p>
        </p:txBody>
      </p:sp>
      <p:sp>
        <p:nvSpPr>
          <p:cNvPr id="11" name="">
            <a:extLst xmlns:a="http://schemas.openxmlformats.org/drawingml/2006/main">
              <a:ext uri="{FF2B5EF4-FFF2-40B4-BE49-F238E27FC236}">
                <a16:creationId xmlns:a16="http://schemas.microsoft.com/office/drawing/2014/main" id="{10ED353A-9C5E-4775-A2CF-880451660A71}"/>
              </a:ext>
            </a:extLst>
          </p:cNvPr>
          <p:cNvSpPr>
            <a:spLocks xmlns:a="http://schemas.openxmlformats.org/drawingml/2006/main" noGrp="1"/>
          </p:cNvSpPr>
          <p:nvPr/>
        </p:nvSpPr>
        <p:spPr>
          <a:xfrm xmlns:a="http://schemas.openxmlformats.org/drawingml/2006/main">
            <a:off x="7924800" y="4600575"/>
            <a:ext cx="3667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950" b="0">
                <a:solidFill>
                  <a:srgbClr val="102A30"/>
                </a:solidFill>
                <a:latin typeface="Helvetica Neue"/>
                <a:ea typeface="Helvetica Neue"/>
                <a:cs typeface="Helvetica Neue"/>
              </a:defRPr>
            </a:pPr>
            <a:r>
              <a:rPr sz="1950" b="0">
                <a:solidFill>
                  <a:srgbClr val="102A30"/>
                </a:solidFill>
                <a:latin typeface="Helvetica Neue"/>
                <a:ea typeface="Helvetica Neue"/>
                <a:cs typeface="Helvetica Neue"/>
              </a:rPr>
              <a:t>Только чтение</a:t>
            </a:r>
          </a:p>
        </p:txBody>
      </p:sp>
      <p:sp>
        <p:nvSpPr>
          <p:cNvPr id="12" name="">
            <a:extLst xmlns:a="http://schemas.openxmlformats.org/drawingml/2006/main">
              <a:ext uri="{FF2B5EF4-FFF2-40B4-BE49-F238E27FC236}">
                <a16:creationId xmlns:a16="http://schemas.microsoft.com/office/drawing/2014/main" id="{F4132424-56B7-4A94-BC2E-B4BD2B556CED}"/>
              </a:ext>
            </a:extLst>
          </p:cNvPr>
          <p:cNvSpPr>
            <a:spLocks xmlns:a="http://schemas.openxmlformats.org/drawingml/2006/main" noGrp="1"/>
          </p:cNvSpPr>
          <p:nvPr/>
        </p:nvSpPr>
        <p:spPr>
          <a:xfrm xmlns:a="http://schemas.openxmlformats.org/drawingml/2006/main">
            <a:off x="7924800" y="5238750"/>
            <a:ext cx="366712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0">
                <a:solidFill>
                  <a:srgbClr val="59686B"/>
                </a:solidFill>
                <a:latin typeface="Helvetica Neue"/>
                <a:ea typeface="Helvetica Neue"/>
                <a:cs typeface="Helvetica Neue"/>
              </a:defRPr>
            </a:pPr>
            <a:r>
              <a:rPr sz="1725" b="0">
                <a:solidFill>
                  <a:srgbClr val="59686B"/>
                </a:solidFill>
                <a:latin typeface="Helvetica Neue"/>
                <a:ea typeface="Helvetica Neue"/>
                <a:cs typeface="Helvetica Neue"/>
              </a:rPr>
              <a:t>Django + SQLite</a:t>
            </a:r>
          </a:p>
          <a:p xmlns:a="http://schemas.openxmlformats.org/drawingml/2006/main">
            <a:pPr>
              <a:buNone/>
              <a:defRPr sz="1725" b="0">
                <a:solidFill>
                  <a:srgbClr val="59686B"/>
                </a:solidFill>
                <a:latin typeface="Helvetica Neue"/>
                <a:ea typeface="Helvetica Neue"/>
                <a:cs typeface="Helvetica Neue"/>
              </a:defRPr>
            </a:pPr>
            <a:r>
              <a:rPr sz="1725" b="0">
                <a:solidFill>
                  <a:srgbClr val="59686B"/>
                </a:solidFill>
                <a:latin typeface="Helvetica Neue"/>
                <a:ea typeface="Helvetica Neue"/>
                <a:cs typeface="Helvetica Neue"/>
              </a:rPr>
              <a:t>Локально, учебные данные</a:t>
            </a:r>
          </a:p>
        </p:txBody>
      </p:sp>
      <p:sp>
        <p:nvSpPr>
          <p:cNvPr id="13" name="">
            <a:extLst xmlns:a="http://schemas.openxmlformats.org/drawingml/2006/main">
              <a:ext uri="{FF2B5EF4-FFF2-40B4-BE49-F238E27FC236}">
                <a16:creationId xmlns:a16="http://schemas.microsoft.com/office/drawing/2014/main" id="{3EE1BC8B-F16B-489E-9F46-B8149F66BCEB}"/>
              </a:ext>
            </a:extLst>
          </p:cNvPr>
          <p:cNvSpPr>
            <a:spLocks xmlns:a="http://schemas.openxmlformats.org/drawingml/2006/main" noGrp="1"/>
          </p:cNvSpPr>
          <p:nvPr/>
        </p:nvSpPr>
        <p:spPr>
          <a:xfrm xmlns:a="http://schemas.openxmlformats.org/drawingml/2006/main">
            <a:off x="7924800" y="5905500"/>
            <a:ext cx="366712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0">
                <a:solidFill>
                  <a:srgbClr val="59686B"/>
                </a:solidFill>
                <a:latin typeface="Helvetica Neue"/>
                <a:ea typeface="Helvetica Neue"/>
                <a:cs typeface="Helvetica Neue"/>
              </a:defRPr>
            </a:pPr>
            <a:r>
              <a:rPr sz="1725" b="0">
                <a:solidFill>
                  <a:srgbClr val="59686B"/>
                </a:solidFill>
                <a:latin typeface="Helvetica Neue"/>
                <a:ea typeface="Helvetica Neue"/>
                <a:cs typeface="Helvetica Neue"/>
              </a:rPr>
              <a:t>baseline-mvp / цель v1.0.0</a:t>
            </a:r>
          </a:p>
        </p:txBody>
      </p:sp>
    </p:spTree>
    <p:extLst>
      <p:ext uri="{BB962C8B-B14F-4D97-AF65-F5344CB8AC3E}">
        <p14:creationId xmlns:p14="http://schemas.microsoft.com/office/powerpoint/2010/main" val="220681025"/>
      </p:ext>
    </p:extLst>
  </p:cSld>
</p:sld>
</file>

<file path=ppt/slides/slide3.xml><?xml version="1.0" encoding="utf-8"?>
<p:sld xmlns:p="http://schemas.openxmlformats.org/presentationml/2006/main">
  <p:cSld>
    <p:bg>
      <p:bgPr>
        <a:solidFill xmlns:a="http://schemas.openxmlformats.org/drawingml/2006/main">
          <a:srgbClr val="F7F6F1"/>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A7218E9-1BDF-489F-805E-A7ED04E7CAB1}"/>
              </a:ext>
            </a:extLst>
          </p:cNvPr>
          <p:cNvSpPr>
            <a:spLocks xmlns:a="http://schemas.openxmlformats.org/drawingml/2006/main" noGrp="1"/>
          </p:cNvSpPr>
          <p:nvPr/>
        </p:nvSpPr>
        <p:spPr>
          <a:xfrm xmlns:a="http://schemas.openxmlformats.org/drawingml/2006/main">
            <a:off x="609600" y="304800"/>
            <a:ext cx="10763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350" b="1">
                <a:solidFill>
                  <a:srgbClr val="26756C"/>
                </a:solidFill>
                <a:latin typeface="Helvetica Neue"/>
                <a:ea typeface="Helvetica Neue"/>
                <a:cs typeface="Helvetica Neue"/>
              </a:defRPr>
            </a:pPr>
            <a:r>
              <a:rPr sz="1350" b="1">
                <a:solidFill>
                  <a:srgbClr val="26756C"/>
                </a:solidFill>
                <a:latin typeface="Helvetica Neue"/>
                <a:ea typeface="Helvetica Neue"/>
                <a:cs typeface="Helvetica Neue"/>
              </a:rPr>
              <a:t>КОНЦЕПЦИЯ БЕЗОПАСНОЙ РАЗРАБОТКИ</a:t>
            </a:r>
          </a:p>
        </p:txBody>
      </p:sp>
      <p:sp>
        <p:nvSpPr>
          <p:cNvPr id="2" name="">
            <a:extLst xmlns:a="http://schemas.openxmlformats.org/drawingml/2006/main">
              <a:ext uri="{FF2B5EF4-FFF2-40B4-BE49-F238E27FC236}">
                <a16:creationId xmlns:a16="http://schemas.microsoft.com/office/drawing/2014/main" id="{C47C6168-BD79-4BB0-824A-EDE2FC2AC9DC}"/>
              </a:ext>
            </a:extLst>
          </p:cNvPr>
          <p:cNvSpPr>
            <a:spLocks xmlns:a="http://schemas.openxmlformats.org/drawingml/2006/main" noGrp="1"/>
          </p:cNvSpPr>
          <p:nvPr/>
        </p:nvSpPr>
        <p:spPr>
          <a:xfrm xmlns:a="http://schemas.openxmlformats.org/drawingml/2006/main">
            <a:off x="609600" y="838200"/>
            <a:ext cx="109728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300" b="1">
                <a:solidFill>
                  <a:srgbClr val="102A30"/>
                </a:solidFill>
                <a:latin typeface="Helvetica Neue"/>
                <a:ea typeface="Helvetica Neue"/>
                <a:cs typeface="Helvetica Neue"/>
              </a:defRPr>
            </a:pPr>
            <a:r>
              <a:rPr sz="3300" b="1">
                <a:solidFill>
                  <a:srgbClr val="102A30"/>
                </a:solidFill>
                <a:latin typeface="Helvetica Neue"/>
                <a:ea typeface="Helvetica Neue"/>
                <a:cs typeface="Helvetica Neue"/>
              </a:rPr>
              <a:t>Почему выбрали SSDF + ASVS</a:t>
            </a:r>
          </a:p>
        </p:txBody>
      </p:sp>
      <p:sp>
        <p:nvSpPr>
          <p:cNvPr id="3" name="">
            <a:extLst xmlns:a="http://schemas.openxmlformats.org/drawingml/2006/main">
              <a:ext uri="{FF2B5EF4-FFF2-40B4-BE49-F238E27FC236}">
                <a16:creationId xmlns:a16="http://schemas.microsoft.com/office/drawing/2014/main" id="{4E92B022-0060-4A10-8224-A10BB04F4684}"/>
              </a:ext>
            </a:extLst>
          </p:cNvPr>
          <p:cNvSpPr>
            <a:spLocks xmlns:a="http://schemas.openxmlformats.org/drawingml/2006/main" noGrp="1"/>
          </p:cNvSpPr>
          <p:nvPr/>
        </p:nvSpPr>
        <p:spPr>
          <a:xfrm xmlns:a="http://schemas.openxmlformats.org/drawingml/2006/main">
            <a:off x="609600" y="6372225"/>
            <a:ext cx="10001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350" b="0">
                <a:solidFill>
                  <a:srgbClr val="59686B"/>
                </a:solidFill>
                <a:latin typeface="Helvetica Neue"/>
                <a:ea typeface="Helvetica Neue"/>
                <a:cs typeface="Helvetica Neue"/>
              </a:defRPr>
            </a:pPr>
            <a:r>
              <a:rPr sz="1350" b="0">
                <a:solidFill>
                  <a:srgbClr val="59686B"/>
                </a:solidFill>
                <a:latin typeface="Helvetica Neue"/>
                <a:ea typeface="Helvetica Neue"/>
                <a:cs typeface="Helvetica Neue"/>
              </a:rPr>
              <a:t>ЯвкаИБ / TaskFlow / ЭК1</a:t>
            </a:r>
          </a:p>
        </p:txBody>
      </p:sp>
      <p:sp>
        <p:nvSpPr>
          <p:cNvPr id="4" name="">
            <a:extLst xmlns:a="http://schemas.openxmlformats.org/drawingml/2006/main">
              <a:ext uri="{FF2B5EF4-FFF2-40B4-BE49-F238E27FC236}">
                <a16:creationId xmlns:a16="http://schemas.microsoft.com/office/drawing/2014/main" id="{BEE741BA-7E4D-4A77-A56E-CEF327834467}"/>
              </a:ext>
            </a:extLst>
          </p:cNvPr>
          <p:cNvSpPr>
            <a:spLocks xmlns:a="http://schemas.openxmlformats.org/drawingml/2006/main" noGrp="1"/>
          </p:cNvSpPr>
          <p:nvPr/>
        </p:nvSpPr>
        <p:spPr>
          <a:xfrm xmlns:a="http://schemas.openxmlformats.org/drawingml/2006/main">
            <a:off x="11029950" y="6324600"/>
            <a:ext cx="619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00" b="1">
                <a:solidFill>
                  <a:srgbClr val="26756C"/>
                </a:solidFill>
                <a:latin typeface="Helvetica Neue"/>
                <a:ea typeface="Helvetica Neue"/>
                <a:cs typeface="Helvetica Neue"/>
              </a:defRPr>
            </a:pPr>
            <a:r>
              <a:rPr sz="1800" b="1">
                <a:solidFill>
                  <a:srgbClr val="26756C"/>
                </a:solidFill>
                <a:latin typeface="Helvetica Neue"/>
                <a:ea typeface="Helvetica Neue"/>
                <a:cs typeface="Helvetica Neue"/>
              </a:rPr>
              <a:t>03</a:t>
            </a:r>
          </a:p>
        </p:txBody>
      </p:sp>
      <p:sp>
        <p:nvSpPr>
          <p:cNvPr id="9" name="">
            <a:extLst xmlns:a="http://schemas.openxmlformats.org/drawingml/2006/main">
              <a:ext uri="{FF2B5EF4-FFF2-40B4-BE49-F238E27FC236}">
                <a16:creationId xmlns:a16="http://schemas.microsoft.com/office/drawing/2014/main" id="{91E82C49-F9B7-4AB0-A775-E3C5577B16CD}"/>
              </a:ext>
            </a:extLst>
          </p:cNvPr>
          <p:cNvSpPr>
            <a:spLocks xmlns:a="http://schemas.openxmlformats.org/drawingml/2006/main" noGrp="1"/>
          </p:cNvSpPr>
          <p:nvPr/>
        </p:nvSpPr>
        <p:spPr>
          <a:xfrm xmlns:a="http://schemas.openxmlformats.org/drawingml/2006/main">
            <a:off x="609600" y="1952625"/>
            <a:ext cx="5095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1">
                <a:solidFill>
                  <a:srgbClr val="26756C"/>
                </a:solidFill>
                <a:latin typeface="Helvetica Neue"/>
                <a:ea typeface="Helvetica Neue"/>
                <a:cs typeface="Helvetica Neue"/>
              </a:defRPr>
            </a:pPr>
            <a:r>
              <a:rPr sz="2850" b="1">
                <a:solidFill>
                  <a:srgbClr val="26756C"/>
                </a:solidFill>
                <a:latin typeface="Helvetica Neue"/>
                <a:ea typeface="Helvetica Neue"/>
                <a:cs typeface="Helvetica Neue"/>
              </a:rPr>
              <a:t>SSDF 1.1</a:t>
            </a:r>
          </a:p>
        </p:txBody>
      </p:sp>
      <p:sp>
        <p:nvSpPr>
          <p:cNvPr id="10" name="">
            <a:extLst xmlns:a="http://schemas.openxmlformats.org/drawingml/2006/main">
              <a:ext uri="{FF2B5EF4-FFF2-40B4-BE49-F238E27FC236}">
                <a16:creationId xmlns:a16="http://schemas.microsoft.com/office/drawing/2014/main" id="{CFE112CA-F979-42F0-98F4-79CB90858A78}"/>
              </a:ext>
            </a:extLst>
          </p:cNvPr>
          <p:cNvSpPr>
            <a:spLocks xmlns:a="http://schemas.openxmlformats.org/drawingml/2006/main" noGrp="1"/>
          </p:cNvSpPr>
          <p:nvPr/>
        </p:nvSpPr>
        <p:spPr>
          <a:xfrm xmlns:a="http://schemas.openxmlformats.org/drawingml/2006/main">
            <a:off x="609600" y="2600325"/>
            <a:ext cx="5143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1">
                <a:solidFill>
                  <a:srgbClr val="102A30"/>
                </a:solidFill>
                <a:latin typeface="Helvetica Neue"/>
                <a:ea typeface="Helvetica Neue"/>
                <a:cs typeface="Helvetica Neue"/>
              </a:defRPr>
            </a:pPr>
            <a:r>
              <a:rPr sz="2400" b="1">
                <a:solidFill>
                  <a:srgbClr val="102A30"/>
                </a:solidFill>
                <a:latin typeface="Helvetica Neue"/>
                <a:ea typeface="Helvetica Neue"/>
                <a:cs typeface="Helvetica Neue"/>
              </a:rPr>
              <a:t>Как организуем разработку</a:t>
            </a:r>
          </a:p>
        </p:txBody>
      </p:sp>
      <p:sp>
        <p:nvSpPr>
          <p:cNvPr id="11" name="">
            <a:extLst xmlns:a="http://schemas.openxmlformats.org/drawingml/2006/main">
              <a:ext uri="{FF2B5EF4-FFF2-40B4-BE49-F238E27FC236}">
                <a16:creationId xmlns:a16="http://schemas.microsoft.com/office/drawing/2014/main" id="{EC210CF2-132F-4AD7-8627-43A481324872}"/>
              </a:ext>
            </a:extLst>
          </p:cNvPr>
          <p:cNvSpPr>
            <a:spLocks xmlns:a="http://schemas.openxmlformats.org/drawingml/2006/main" noGrp="1"/>
          </p:cNvSpPr>
          <p:nvPr/>
        </p:nvSpPr>
        <p:spPr>
          <a:xfrm xmlns:a="http://schemas.openxmlformats.org/drawingml/2006/main">
            <a:off x="609600" y="3448050"/>
            <a:ext cx="516255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02A30"/>
                </a:solidFill>
                <a:latin typeface="Helvetica Neue"/>
                <a:ea typeface="Helvetica Neue"/>
                <a:cs typeface="Helvetica Neue"/>
              </a:defRPr>
            </a:pPr>
            <a:r>
              <a:rPr sz="2100" b="0">
                <a:solidFill>
                  <a:srgbClr val="102A30"/>
                </a:solidFill>
                <a:latin typeface="Helvetica Neue"/>
                <a:ea typeface="Helvetica Neue"/>
                <a:cs typeface="Helvetica Neue"/>
              </a:rPr>
              <a:t>Охватывает работу от требований</a:t>
            </a:r>
          </a:p>
          <a:p xmlns:a="http://schemas.openxmlformats.org/drawingml/2006/main">
            <a:pPr>
              <a:defRPr sz="2100" b="0">
                <a:solidFill>
                  <a:srgbClr val="102A30"/>
                </a:solidFill>
                <a:latin typeface="Helvetica Neue"/>
                <a:ea typeface="Helvetica Neue"/>
                <a:cs typeface="Helvetica Neue"/>
              </a:defRPr>
            </a:pPr>
            <a:r>
              <a:rPr sz="2100" b="0">
                <a:solidFill>
                  <a:srgbClr val="102A30"/>
                </a:solidFill>
                <a:latin typeface="Helvetica Neue"/>
                <a:ea typeface="Helvetica Neue"/>
                <a:cs typeface="Helvetica Neue"/>
              </a:rPr>
              <a:t>до выпуска и исправлений.</a:t>
            </a:r>
          </a:p>
          <a:p xmlns:a="http://schemas.openxmlformats.org/drawingml/2006/main">
            <a:r>
              <a:t/>
            </a:r>
          </a:p>
          <a:p xmlns:a="http://schemas.openxmlformats.org/drawingml/2006/main">
            <a:pPr>
              <a:defRPr sz="2100" b="0">
                <a:solidFill>
                  <a:srgbClr val="102A30"/>
                </a:solidFill>
                <a:latin typeface="Helvetica Neue"/>
                <a:ea typeface="Helvetica Neue"/>
                <a:cs typeface="Helvetica Neue"/>
              </a:defRPr>
            </a:pPr>
            <a:r>
              <a:rPr sz="2100" b="0">
                <a:solidFill>
                  <a:srgbClr val="102A30"/>
                </a:solidFill>
                <a:latin typeface="Helvetica Neue"/>
                <a:ea typeface="Helvetica Neue"/>
                <a:cs typeface="Helvetica Neue"/>
              </a:rPr>
              <a:t>Выбрали 7 правил для двух человек.</a:t>
            </a:r>
          </a:p>
          <a:p xmlns:a="http://schemas.openxmlformats.org/drawingml/2006/main">
            <a:pPr>
              <a:defRPr sz="2100" b="0">
                <a:solidFill>
                  <a:srgbClr val="102A30"/>
                </a:solidFill>
                <a:latin typeface="Helvetica Neue"/>
                <a:ea typeface="Helvetica Neue"/>
                <a:cs typeface="Helvetica Neue"/>
              </a:defRPr>
            </a:pPr>
            <a:r>
              <a:rPr sz="2100" b="0">
                <a:solidFill>
                  <a:srgbClr val="102A30"/>
                </a:solidFill>
                <a:latin typeface="Helvetica Neue"/>
                <a:ea typeface="Helvetica Neue"/>
                <a:cs typeface="Helvetica Neue"/>
              </a:rPr>
              <a:t>Полный текст доступен открыто.</a:t>
            </a:r>
          </a:p>
        </p:txBody>
      </p:sp>
      <p:sp>
        <p:nvSpPr>
          <p:cNvPr id="12" name="">
            <a:extLst xmlns:a="http://schemas.openxmlformats.org/drawingml/2006/main">
              <a:ext uri="{FF2B5EF4-FFF2-40B4-BE49-F238E27FC236}">
                <a16:creationId xmlns:a16="http://schemas.microsoft.com/office/drawing/2014/main" id="{F31D05F6-E9E3-4F14-8A81-6C09014D2DF4}"/>
              </a:ext>
            </a:extLst>
          </p:cNvPr>
          <p:cNvSpPr>
            <a:spLocks xmlns:a="http://schemas.openxmlformats.org/drawingml/2006/main" noGrp="1"/>
          </p:cNvSpPr>
          <p:nvPr/>
        </p:nvSpPr>
        <p:spPr>
          <a:xfrm xmlns:a="http://schemas.openxmlformats.org/drawingml/2006/main">
            <a:off x="6324600" y="1952625"/>
            <a:ext cx="5238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1">
                <a:solidFill>
                  <a:srgbClr val="26756C"/>
                </a:solidFill>
                <a:latin typeface="Helvetica Neue"/>
                <a:ea typeface="Helvetica Neue"/>
                <a:cs typeface="Helvetica Neue"/>
              </a:defRPr>
            </a:pPr>
            <a:r>
              <a:rPr sz="2850" b="1">
                <a:solidFill>
                  <a:srgbClr val="26756C"/>
                </a:solidFill>
                <a:latin typeface="Helvetica Neue"/>
                <a:ea typeface="Helvetica Neue"/>
                <a:cs typeface="Helvetica Neue"/>
              </a:rPr>
              <a:t>ASVS 5.0.0</a:t>
            </a:r>
          </a:p>
        </p:txBody>
      </p:sp>
      <p:sp>
        <p:nvSpPr>
          <p:cNvPr id="13" name="">
            <a:extLst xmlns:a="http://schemas.openxmlformats.org/drawingml/2006/main">
              <a:ext uri="{FF2B5EF4-FFF2-40B4-BE49-F238E27FC236}">
                <a16:creationId xmlns:a16="http://schemas.microsoft.com/office/drawing/2014/main" id="{6BE650CD-1C1C-495E-9968-F63818679045}"/>
              </a:ext>
            </a:extLst>
          </p:cNvPr>
          <p:cNvSpPr>
            <a:spLocks xmlns:a="http://schemas.openxmlformats.org/drawingml/2006/main" noGrp="1"/>
          </p:cNvSpPr>
          <p:nvPr/>
        </p:nvSpPr>
        <p:spPr>
          <a:xfrm xmlns:a="http://schemas.openxmlformats.org/drawingml/2006/main">
            <a:off x="6324600" y="2600325"/>
            <a:ext cx="5238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1">
                <a:solidFill>
                  <a:srgbClr val="102A30"/>
                </a:solidFill>
                <a:latin typeface="Helvetica Neue"/>
                <a:ea typeface="Helvetica Neue"/>
                <a:cs typeface="Helvetica Neue"/>
              </a:defRPr>
            </a:pPr>
            <a:r>
              <a:rPr sz="2400" b="1">
                <a:solidFill>
                  <a:srgbClr val="102A30"/>
                </a:solidFill>
                <a:latin typeface="Helvetica Neue"/>
                <a:ea typeface="Helvetica Neue"/>
                <a:cs typeface="Helvetica Neue"/>
              </a:rPr>
              <a:t>Что проверяем в приложении</a:t>
            </a:r>
          </a:p>
        </p:txBody>
      </p:sp>
      <p:sp>
        <p:nvSpPr>
          <p:cNvPr id="14" name="">
            <a:extLst xmlns:a="http://schemas.openxmlformats.org/drawingml/2006/main">
              <a:ext uri="{FF2B5EF4-FFF2-40B4-BE49-F238E27FC236}">
                <a16:creationId xmlns:a16="http://schemas.microsoft.com/office/drawing/2014/main" id="{C8A611CC-FA83-44E1-BDCD-7921A27C1606}"/>
              </a:ext>
            </a:extLst>
          </p:cNvPr>
          <p:cNvSpPr>
            <a:spLocks xmlns:a="http://schemas.openxmlformats.org/drawingml/2006/main" noGrp="1"/>
          </p:cNvSpPr>
          <p:nvPr/>
        </p:nvSpPr>
        <p:spPr>
          <a:xfrm xmlns:a="http://schemas.openxmlformats.org/drawingml/2006/main">
            <a:off x="6324600" y="3448050"/>
            <a:ext cx="523875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02A30"/>
                </a:solidFill>
                <a:latin typeface="Helvetica Neue"/>
                <a:ea typeface="Helvetica Neue"/>
                <a:cs typeface="Helvetica Neue"/>
              </a:defRPr>
            </a:pPr>
            <a:r>
              <a:rPr sz="2100" b="0">
                <a:solidFill>
                  <a:srgbClr val="102A30"/>
                </a:solidFill>
                <a:latin typeface="Helvetica Neue"/>
                <a:ea typeface="Helvetica Neue"/>
                <a:cs typeface="Helvetica Neue"/>
              </a:rPr>
              <a:t>Даёт конкретные требования</a:t>
            </a:r>
          </a:p>
          <a:p xmlns:a="http://schemas.openxmlformats.org/drawingml/2006/main">
            <a:pPr>
              <a:defRPr sz="2100" b="0">
                <a:solidFill>
                  <a:srgbClr val="102A30"/>
                </a:solidFill>
                <a:latin typeface="Helvetica Neue"/>
                <a:ea typeface="Helvetica Neue"/>
                <a:cs typeface="Helvetica Neue"/>
              </a:defRPr>
            </a:pPr>
            <a:r>
              <a:rPr sz="2100" b="0">
                <a:solidFill>
                  <a:srgbClr val="102A30"/>
                </a:solidFill>
                <a:latin typeface="Helvetica Neue"/>
                <a:ea typeface="Helvetica Neue"/>
                <a:cs typeface="Helvetica Neue"/>
              </a:rPr>
              <a:t>к безопасности веб-приложений.</a:t>
            </a:r>
          </a:p>
          <a:p xmlns:a="http://schemas.openxmlformats.org/drawingml/2006/main">
            <a:r>
              <a:t/>
            </a:r>
          </a:p>
          <a:p xmlns:a="http://schemas.openxmlformats.org/drawingml/2006/main">
            <a:pPr>
              <a:defRPr sz="2100" b="0">
                <a:solidFill>
                  <a:srgbClr val="102A30"/>
                </a:solidFill>
                <a:latin typeface="Helvetica Neue"/>
                <a:ea typeface="Helvetica Neue"/>
                <a:cs typeface="Helvetica Neue"/>
              </a:defRPr>
            </a:pPr>
            <a:r>
              <a:rPr sz="2100" b="0">
                <a:solidFill>
                  <a:srgbClr val="102A30"/>
                </a:solidFill>
                <a:latin typeface="Helvetica Neue"/>
                <a:ea typeface="Helvetica Neue"/>
                <a:cs typeface="Helvetica Neue"/>
              </a:rPr>
              <a:t>Уточняет проверки прав доступа,</a:t>
            </a:r>
          </a:p>
          <a:p xmlns:a="http://schemas.openxmlformats.org/drawingml/2006/main">
            <a:pPr>
              <a:defRPr sz="2100" b="0">
                <a:solidFill>
                  <a:srgbClr val="102A30"/>
                </a:solidFill>
                <a:latin typeface="Helvetica Neue"/>
                <a:ea typeface="Helvetica Neue"/>
                <a:cs typeface="Helvetica Neue"/>
              </a:defRPr>
            </a:pPr>
            <a:r>
              <a:rPr sz="2100" b="0">
                <a:solidFill>
                  <a:srgbClr val="102A30"/>
                </a:solidFill>
                <a:latin typeface="Helvetica Neue"/>
                <a:ea typeface="Helvetica Neue"/>
                <a:cs typeface="Helvetica Neue"/>
              </a:rPr>
              <a:t>входа и обработки текста.</a:t>
            </a:r>
          </a:p>
        </p:txBody>
      </p:sp>
      <p:sp>
        <p:nvSpPr>
          <p:cNvPr id="15" name="">
            <a:extLst xmlns:a="http://schemas.openxmlformats.org/drawingml/2006/main">
              <a:ext uri="{FF2B5EF4-FFF2-40B4-BE49-F238E27FC236}">
                <a16:creationId xmlns:a16="http://schemas.microsoft.com/office/drawing/2014/main" id="{6CF7E8AF-0587-4A51-A141-FF6EAE8A5F21}"/>
              </a:ext>
            </a:extLst>
          </p:cNvPr>
          <p:cNvSpPr>
            <a:spLocks xmlns:a="http://schemas.openxmlformats.org/drawingml/2006/main" noGrp="1"/>
          </p:cNvSpPr>
          <p:nvPr/>
        </p:nvSpPr>
        <p:spPr>
          <a:xfrm xmlns:a="http://schemas.openxmlformats.org/drawingml/2006/main">
            <a:off x="609600" y="562927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26756C"/>
                </a:solidFill>
                <a:latin typeface="Helvetica Neue"/>
                <a:ea typeface="Helvetica Neue"/>
                <a:cs typeface="Helvetica Neue"/>
              </a:defRPr>
            </a:pPr>
            <a:r>
              <a:rPr sz="2100" b="1">
                <a:solidFill>
                  <a:srgbClr val="26756C"/>
                </a:solidFill>
                <a:latin typeface="Helvetica Neue"/>
                <a:ea typeface="Helvetica Neue"/>
                <a:cs typeface="Helvetica Neue"/>
              </a:rPr>
              <a:t>SSDF задаёт порядок работы. ASVS уточняет технические требования.</a:t>
            </a:r>
          </a:p>
        </p:txBody>
      </p:sp>
    </p:spTree>
    <p:extLst>
      <p:ext uri="{BB962C8B-B14F-4D97-AF65-F5344CB8AC3E}">
        <p14:creationId xmlns:p14="http://schemas.microsoft.com/office/powerpoint/2010/main" val="1505149136"/>
      </p:ext>
    </p:extLst>
  </p:cSld>
</p:sld>
</file>

<file path=ppt/slides/slide4.xml><?xml version="1.0" encoding="utf-8"?>
<p:sld xmlns:p="http://schemas.openxmlformats.org/presentationml/2006/main">
  <p:cSld>
    <p:bg>
      <p:bgPr>
        <a:solidFill xmlns:a="http://schemas.openxmlformats.org/drawingml/2006/main">
          <a:srgbClr val="F7F6F1"/>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A236832-8B90-4562-9CD5-20B2209D0649}"/>
              </a:ext>
            </a:extLst>
          </p:cNvPr>
          <p:cNvSpPr>
            <a:spLocks xmlns:a="http://schemas.openxmlformats.org/drawingml/2006/main" noGrp="1"/>
          </p:cNvSpPr>
          <p:nvPr/>
        </p:nvSpPr>
        <p:spPr>
          <a:xfrm xmlns:a="http://schemas.openxmlformats.org/drawingml/2006/main">
            <a:off x="609600" y="304800"/>
            <a:ext cx="10763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350" b="1">
                <a:solidFill>
                  <a:srgbClr val="26756C"/>
                </a:solidFill>
                <a:latin typeface="Helvetica Neue"/>
                <a:ea typeface="Helvetica Neue"/>
                <a:cs typeface="Helvetica Neue"/>
              </a:defRPr>
            </a:pPr>
            <a:r>
              <a:rPr sz="1350" b="1">
                <a:solidFill>
                  <a:srgbClr val="26756C"/>
                </a:solidFill>
                <a:latin typeface="Helvetica Neue"/>
                <a:ea typeface="Helvetica Neue"/>
                <a:cs typeface="Helvetica Neue"/>
              </a:rPr>
              <a:t>КОНЦЕПЦИЯ БЕЗОПАСНОЙ РАЗРАБОТКИ</a:t>
            </a:r>
          </a:p>
        </p:txBody>
      </p:sp>
      <p:sp>
        <p:nvSpPr>
          <p:cNvPr id="2" name="">
            <a:extLst xmlns:a="http://schemas.openxmlformats.org/drawingml/2006/main">
              <a:ext uri="{FF2B5EF4-FFF2-40B4-BE49-F238E27FC236}">
                <a16:creationId xmlns:a16="http://schemas.microsoft.com/office/drawing/2014/main" id="{AF3E136D-6EA8-4350-B7A0-995FFCEF72B4}"/>
              </a:ext>
            </a:extLst>
          </p:cNvPr>
          <p:cNvSpPr>
            <a:spLocks xmlns:a="http://schemas.openxmlformats.org/drawingml/2006/main" noGrp="1"/>
          </p:cNvSpPr>
          <p:nvPr/>
        </p:nvSpPr>
        <p:spPr>
          <a:xfrm xmlns:a="http://schemas.openxmlformats.org/drawingml/2006/main">
            <a:off x="609600" y="838200"/>
            <a:ext cx="109728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300" b="1">
                <a:solidFill>
                  <a:srgbClr val="102A30"/>
                </a:solidFill>
                <a:latin typeface="Helvetica Neue"/>
                <a:ea typeface="Helvetica Neue"/>
                <a:cs typeface="Helvetica Neue"/>
              </a:defRPr>
            </a:pPr>
            <a:r>
              <a:rPr sz="3300" b="1">
                <a:solidFill>
                  <a:srgbClr val="102A30"/>
                </a:solidFill>
                <a:latin typeface="Helvetica Neue"/>
                <a:ea typeface="Helvetica Neue"/>
                <a:cs typeface="Helvetica Neue"/>
              </a:rPr>
              <a:t>Почему не выбрали SAMM и ГОСТ</a:t>
            </a:r>
          </a:p>
        </p:txBody>
      </p:sp>
      <p:sp>
        <p:nvSpPr>
          <p:cNvPr id="3" name="">
            <a:extLst xmlns:a="http://schemas.openxmlformats.org/drawingml/2006/main">
              <a:ext uri="{FF2B5EF4-FFF2-40B4-BE49-F238E27FC236}">
                <a16:creationId xmlns:a16="http://schemas.microsoft.com/office/drawing/2014/main" id="{2227BBEA-07AF-4A9C-97C1-42144AAC6139}"/>
              </a:ext>
            </a:extLst>
          </p:cNvPr>
          <p:cNvSpPr>
            <a:spLocks xmlns:a="http://schemas.openxmlformats.org/drawingml/2006/main" noGrp="1"/>
          </p:cNvSpPr>
          <p:nvPr/>
        </p:nvSpPr>
        <p:spPr>
          <a:xfrm xmlns:a="http://schemas.openxmlformats.org/drawingml/2006/main">
            <a:off x="609600" y="6372225"/>
            <a:ext cx="10001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350" b="0">
                <a:solidFill>
                  <a:srgbClr val="59686B"/>
                </a:solidFill>
                <a:latin typeface="Helvetica Neue"/>
                <a:ea typeface="Helvetica Neue"/>
                <a:cs typeface="Helvetica Neue"/>
              </a:defRPr>
            </a:pPr>
            <a:r>
              <a:rPr sz="1350" b="0">
                <a:solidFill>
                  <a:srgbClr val="59686B"/>
                </a:solidFill>
                <a:latin typeface="Helvetica Neue"/>
                <a:ea typeface="Helvetica Neue"/>
                <a:cs typeface="Helvetica Neue"/>
              </a:rPr>
              <a:t>ЯвкаИБ / TaskFlow / ЭК1</a:t>
            </a:r>
          </a:p>
        </p:txBody>
      </p:sp>
      <p:sp>
        <p:nvSpPr>
          <p:cNvPr id="4" name="">
            <a:extLst xmlns:a="http://schemas.openxmlformats.org/drawingml/2006/main">
              <a:ext uri="{FF2B5EF4-FFF2-40B4-BE49-F238E27FC236}">
                <a16:creationId xmlns:a16="http://schemas.microsoft.com/office/drawing/2014/main" id="{DE95B7F1-F785-4784-AAF1-38F88216DB9A}"/>
              </a:ext>
            </a:extLst>
          </p:cNvPr>
          <p:cNvSpPr>
            <a:spLocks xmlns:a="http://schemas.openxmlformats.org/drawingml/2006/main" noGrp="1"/>
          </p:cNvSpPr>
          <p:nvPr/>
        </p:nvSpPr>
        <p:spPr>
          <a:xfrm xmlns:a="http://schemas.openxmlformats.org/drawingml/2006/main">
            <a:off x="11029950" y="6324600"/>
            <a:ext cx="619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00" b="1">
                <a:solidFill>
                  <a:srgbClr val="26756C"/>
                </a:solidFill>
                <a:latin typeface="Helvetica Neue"/>
                <a:ea typeface="Helvetica Neue"/>
                <a:cs typeface="Helvetica Neue"/>
              </a:defRPr>
            </a:pPr>
            <a:r>
              <a:rPr sz="1800" b="1">
                <a:solidFill>
                  <a:srgbClr val="26756C"/>
                </a:solidFill>
                <a:latin typeface="Helvetica Neue"/>
                <a:ea typeface="Helvetica Neue"/>
                <a:cs typeface="Helvetica Neue"/>
              </a:rPr>
              <a:t>04</a:t>
            </a:r>
          </a:p>
        </p:txBody>
      </p:sp>
      <p:graphicFrame>
        <p:nvGraphicFramePr>
          <p:cNvPr id="15" name=""/>
          <p:cNvGraphicFramePr/>
          <p:nvPr/>
        </p:nvGraphicFramePr>
        <p:xfrm>
          <a:off xmlns:a="http://schemas.openxmlformats.org/drawingml/2006/main" x="609600" y="2047875"/>
          <a:ext xmlns:a="http://schemas.openxmlformats.org/drawingml/2006/main" cx="10972800" cy="3143250"/>
        </p:xfrm>
        <a:graphic xmlns:a="http://schemas.openxmlformats.org/drawingml/2006/main">
          <a:graphicData uri="http://schemas.openxmlformats.org/drawingml/2006/table">
            <a:tbl>
              <a:tblPr/>
              <a:tblGrid>
                <a:gridCol w="2333625"/>
                <a:gridCol w="3495675"/>
                <a:gridCol w="5143500"/>
              </a:tblGrid>
              <a:tr h="571500">
                <a:tc>
                  <a:txBody>
                    <a:bodyPr>
                      <a:noAutofit/>
                    </a:bodyPr>
                    <a:lstStyle/>
                    <a:p>
                      <a:r>
                        <a:rPr sz="1950" b="1">
                          <a:solidFill>
                            <a:srgbClr val="FFFFFF"/>
                          </a:solidFill>
                          <a:latin typeface="Helvetica Neue"/>
                          <a:ea typeface="Helvetica Neue"/>
                          <a:cs typeface="Helvetica Neue"/>
                        </a:rPr>
                        <a:t>Источник</a:t>
                      </a:r>
                    </a:p>
                  </a:txBody>
                  <a:tcPr marL="91440" marR="91440" marT="45720" marB="45720">
                    <a:solidFill>
                      <a:srgbClr val="102A30"/>
                    </a:solidFill>
                  </a:tcPr>
                </a:tc>
                <a:tc>
                  <a:txBody>
                    <a:bodyPr>
                      <a:noAutofit/>
                    </a:bodyPr>
                    <a:lstStyle/>
                    <a:p>
                      <a:r>
                        <a:rPr sz="1950" b="1">
                          <a:solidFill>
                            <a:srgbClr val="FFFFFF"/>
                          </a:solidFill>
                          <a:latin typeface="Helvetica Neue"/>
                          <a:ea typeface="Helvetica Neue"/>
                          <a:cs typeface="Helvetica Neue"/>
                        </a:rPr>
                        <a:t>Зачем рассмотрели</a:t>
                      </a:r>
                    </a:p>
                  </a:txBody>
                  <a:tcPr marL="91440" marR="91440" marT="45720" marB="45720">
                    <a:solidFill>
                      <a:srgbClr val="102A30"/>
                    </a:solidFill>
                  </a:tcPr>
                </a:tc>
                <a:tc>
                  <a:txBody>
                    <a:bodyPr>
                      <a:noAutofit/>
                    </a:bodyPr>
                    <a:lstStyle/>
                    <a:p>
                      <a:r>
                        <a:rPr sz="1950" b="1">
                          <a:solidFill>
                            <a:srgbClr val="FFFFFF"/>
                          </a:solidFill>
                          <a:latin typeface="Helvetica Neue"/>
                          <a:ea typeface="Helvetica Neue"/>
                          <a:cs typeface="Helvetica Neue"/>
                        </a:rPr>
                        <a:t>Почему не взяли за основу</a:t>
                      </a:r>
                    </a:p>
                  </a:txBody>
                  <a:tcPr marL="91440" marR="91440" marT="45720" marB="45720">
                    <a:solidFill>
                      <a:srgbClr val="102A30"/>
                    </a:solidFill>
                  </a:tcPr>
                </a:tc>
              </a:tr>
              <a:tr h="1285875">
                <a:tc>
                  <a:txBody>
                    <a:bodyPr>
                      <a:noAutofit/>
                    </a:bodyPr>
                    <a:lstStyle/>
                    <a:p>
                      <a:r>
                        <a:rPr sz="1950" b="0">
                          <a:solidFill>
                            <a:srgbClr val="102A30"/>
                          </a:solidFill>
                          <a:latin typeface="Helvetica Neue"/>
                          <a:ea typeface="Helvetica Neue"/>
                          <a:cs typeface="Helvetica Neue"/>
                        </a:rPr>
                        <a:t>OWASP SAMM 2</a:t>
                      </a:r>
                    </a:p>
                  </a:txBody>
                  <a:tcPr marL="91440" marR="91440" marT="45720" marB="45720">
                    <a:solidFill>
                      <a:srgbClr val="FFFFFF"/>
                    </a:solidFill>
                  </a:tcPr>
                </a:tc>
                <a:tc>
                  <a:txBody>
                    <a:bodyPr>
                      <a:noAutofit/>
                    </a:bodyPr>
                    <a:lstStyle/>
                    <a:p>
                      <a:r>
                        <a:rPr sz="1950" b="0">
                          <a:solidFill>
                            <a:srgbClr val="102A30"/>
                          </a:solidFill>
                          <a:latin typeface="Helvetica Neue"/>
                          <a:ea typeface="Helvetica Neue"/>
                          <a:cs typeface="Helvetica Neue"/>
                        </a:rPr>
                        <a:t>Помогает оценивать</a:t>
                      </a:r>
                    </a:p>
                    <a:p>
                      <a:r>
                        <a:rPr sz="1950" b="0">
                          <a:solidFill>
                            <a:srgbClr val="102A30"/>
                          </a:solidFill>
                          <a:latin typeface="Helvetica Neue"/>
                          <a:ea typeface="Helvetica Neue"/>
                          <a:cs typeface="Helvetica Neue"/>
                        </a:rPr>
                        <a:t>и улучшать практики</a:t>
                      </a:r>
                    </a:p>
                    <a:p>
                      <a:r>
                        <a:rPr sz="1950" b="0">
                          <a:solidFill>
                            <a:srgbClr val="102A30"/>
                          </a:solidFill>
                          <a:latin typeface="Helvetica Neue"/>
                          <a:ea typeface="Helvetica Neue"/>
                          <a:cs typeface="Helvetica Neue"/>
                        </a:rPr>
                        <a:t>команды</a:t>
                      </a:r>
                    </a:p>
                  </a:txBody>
                  <a:tcPr marL="91440" marR="91440" marT="45720" marB="45720">
                    <a:solidFill>
                      <a:srgbClr val="FFFFFF"/>
                    </a:solidFill>
                  </a:tcPr>
                </a:tc>
                <a:tc>
                  <a:txBody>
                    <a:bodyPr>
                      <a:noAutofit/>
                    </a:bodyPr>
                    <a:lstStyle/>
                    <a:p>
                      <a:r>
                        <a:rPr sz="1950" b="0">
                          <a:solidFill>
                            <a:srgbClr val="102A30"/>
                          </a:solidFill>
                          <a:latin typeface="Helvetica Neue"/>
                          <a:ea typeface="Helvetica Neue"/>
                          <a:cs typeface="Helvetica Neue"/>
                        </a:rPr>
                        <a:t>Проект только начат. Мало истории</a:t>
                      </a:r>
                    </a:p>
                    <a:p>
                      <a:r>
                        <a:rPr sz="1950" b="0">
                          <a:solidFill>
                            <a:srgbClr val="102A30"/>
                          </a:solidFill>
                          <a:latin typeface="Helvetica Neue"/>
                          <a:ea typeface="Helvetica Neue"/>
                          <a:cs typeface="Helvetica Neue"/>
                        </a:rPr>
                        <a:t>для оценки устойчивости практик.</a:t>
                      </a:r>
                    </a:p>
                    <a:p>
                      <a:r>
                        <a:rPr sz="1950" b="0">
                          <a:solidFill>
                            <a:srgbClr val="102A30"/>
                          </a:solidFill>
                          <a:latin typeface="Helvetica Neue"/>
                          <a:ea typeface="Helvetica Neue"/>
                          <a:cs typeface="Helvetica Neue"/>
                        </a:rPr>
                        <a:t>Сначала устанавливаем правила.</a:t>
                      </a:r>
                    </a:p>
                  </a:txBody>
                  <a:tcPr marL="91440" marR="91440" marT="45720" marB="45720">
                    <a:solidFill>
                      <a:srgbClr val="FFFFFF"/>
                    </a:solidFill>
                  </a:tcPr>
                </a:tc>
              </a:tr>
              <a:tr h="1285875">
                <a:tc>
                  <a:txBody>
                    <a:bodyPr>
                      <a:noAutofit/>
                    </a:bodyPr>
                    <a:lstStyle/>
                    <a:p>
                      <a:r>
                        <a:rPr sz="1950" b="0">
                          <a:solidFill>
                            <a:srgbClr val="102A30"/>
                          </a:solidFill>
                          <a:latin typeface="Helvetica Neue"/>
                          <a:ea typeface="Helvetica Neue"/>
                          <a:cs typeface="Helvetica Neue"/>
                        </a:rPr>
                        <a:t>ГОСТ Р</a:t>
                      </a:r>
                    </a:p>
                    <a:p>
                      <a:r>
                        <a:rPr sz="1950" b="0">
                          <a:solidFill>
                            <a:srgbClr val="102A30"/>
                          </a:solidFill>
                          <a:latin typeface="Helvetica Neue"/>
                          <a:ea typeface="Helvetica Neue"/>
                          <a:cs typeface="Helvetica Neue"/>
                        </a:rPr>
                        <a:t>56939-2024</a:t>
                      </a:r>
                    </a:p>
                  </a:txBody>
                  <a:tcPr marL="91440" marR="91440" marT="45720" marB="45720">
                    <a:solidFill>
                      <a:srgbClr val="F7F6F1"/>
                    </a:solidFill>
                  </a:tcPr>
                </a:tc>
                <a:tc>
                  <a:txBody>
                    <a:bodyPr>
                      <a:noAutofit/>
                    </a:bodyPr>
                    <a:lstStyle/>
                    <a:p>
                      <a:r>
                        <a:rPr sz="1950" b="0">
                          <a:solidFill>
                            <a:srgbClr val="102A30"/>
                          </a:solidFill>
                          <a:latin typeface="Helvetica Neue"/>
                          <a:ea typeface="Helvetica Neue"/>
                          <a:cs typeface="Helvetica Neue"/>
                        </a:rPr>
                        <a:t>Задаёт требования</a:t>
                      </a:r>
                    </a:p>
                    <a:p>
                      <a:r>
                        <a:rPr sz="1950" b="0">
                          <a:solidFill>
                            <a:srgbClr val="102A30"/>
                          </a:solidFill>
                          <a:latin typeface="Helvetica Neue"/>
                          <a:ea typeface="Helvetica Neue"/>
                          <a:cs typeface="Helvetica Neue"/>
                        </a:rPr>
                        <a:t>к работам безопасной</a:t>
                      </a:r>
                    </a:p>
                    <a:p>
                      <a:r>
                        <a:rPr sz="1950" b="0">
                          <a:solidFill>
                            <a:srgbClr val="102A30"/>
                          </a:solidFill>
                          <a:latin typeface="Helvetica Neue"/>
                          <a:ea typeface="Helvetica Neue"/>
                          <a:cs typeface="Helvetica Neue"/>
                        </a:rPr>
                        <a:t>разработки</a:t>
                      </a:r>
                    </a:p>
                  </a:txBody>
                  <a:tcPr marL="91440" marR="91440" marT="45720" marB="45720">
                    <a:solidFill>
                      <a:srgbClr val="F7F6F1"/>
                    </a:solidFill>
                  </a:tcPr>
                </a:tc>
                <a:tc>
                  <a:txBody>
                    <a:bodyPr>
                      <a:noAutofit/>
                    </a:bodyPr>
                    <a:lstStyle/>
                    <a:p>
                      <a:r>
                        <a:rPr sz="1950" b="0">
                          <a:solidFill>
                            <a:srgbClr val="102A30"/>
                          </a:solidFill>
                          <a:latin typeface="Helvetica Neue"/>
                          <a:ea typeface="Helvetica Neue"/>
                          <a:cs typeface="Helvetica Neue"/>
                        </a:rPr>
                        <a:t>В задании нет требования брать ГОСТ.</a:t>
                      </a:r>
                    </a:p>
                    <a:p>
                      <a:r>
                        <a:rPr sz="1950" b="0">
                          <a:solidFill>
                            <a:srgbClr val="102A30"/>
                          </a:solidFill>
                          <a:latin typeface="Helvetica Neue"/>
                          <a:ea typeface="Helvetica Neue"/>
                          <a:cs typeface="Helvetica Neue"/>
                        </a:rPr>
                        <a:t>Для нашей области достаточно SSDF,</a:t>
                      </a:r>
                    </a:p>
                    <a:p>
                      <a:r>
                        <a:rPr sz="1950" b="0">
                          <a:solidFill>
                            <a:srgbClr val="102A30"/>
                          </a:solidFill>
                          <a:latin typeface="Helvetica Neue"/>
                          <a:ea typeface="Helvetica Neue"/>
                          <a:cs typeface="Helvetica Neue"/>
                        </a:rPr>
                        <a:t>полный текст которого открыт.</a:t>
                      </a:r>
                    </a:p>
                  </a:txBody>
                  <a:tcPr marL="91440" marR="91440" marT="45720" marB="45720">
                    <a:solidFill>
                      <a:srgbClr val="F7F6F1"/>
                    </a:solidFill>
                  </a:tcPr>
                </a:tc>
              </a:tr>
            </a:tbl>
          </a:graphicData>
        </a:graphic>
      </p:graphicFrame>
      <p:sp>
        <p:nvSpPr>
          <p:cNvPr id="10" name="">
            <a:extLst xmlns:a="http://schemas.openxmlformats.org/drawingml/2006/main">
              <a:ext uri="{FF2B5EF4-FFF2-40B4-BE49-F238E27FC236}">
                <a16:creationId xmlns:a16="http://schemas.microsoft.com/office/drawing/2014/main" id="{0F1252E7-C4FB-417C-9CC7-9E7D2F833BF8}"/>
              </a:ext>
            </a:extLst>
          </p:cNvPr>
          <p:cNvSpPr>
            <a:spLocks xmlns:a="http://schemas.openxmlformats.org/drawingml/2006/main" noGrp="1"/>
          </p:cNvSpPr>
          <p:nvPr/>
        </p:nvSpPr>
        <p:spPr>
          <a:xfrm xmlns:a="http://schemas.openxmlformats.org/drawingml/2006/main">
            <a:off x="609600" y="5457825"/>
            <a:ext cx="109728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26756C"/>
                </a:solidFill>
                <a:latin typeface="Helvetica Neue"/>
                <a:ea typeface="Helvetica Neue"/>
                <a:cs typeface="Helvetica Neue"/>
              </a:defRPr>
            </a:pPr>
            <a:r>
              <a:rPr sz="2100" b="1">
                <a:solidFill>
                  <a:srgbClr val="26756C"/>
                </a:solidFill>
                <a:latin typeface="Helvetica Neue"/>
                <a:ea typeface="Helvetica Neue"/>
                <a:cs typeface="Helvetica Neue"/>
              </a:rPr>
              <a:t>Оба подхода применимы. Выбор зависит от цели проекта и требований.</a:t>
            </a:r>
          </a:p>
        </p:txBody>
      </p:sp>
    </p:spTree>
    <p:extLst>
      <p:ext uri="{BB962C8B-B14F-4D97-AF65-F5344CB8AC3E}">
        <p14:creationId xmlns:p14="http://schemas.microsoft.com/office/powerpoint/2010/main" val="231355314"/>
      </p:ext>
    </p:extLst>
  </p:cSld>
</p:sld>
</file>

<file path=ppt/slides/slide5.xml><?xml version="1.0" encoding="utf-8"?>
<p:sld xmlns:p="http://schemas.openxmlformats.org/presentationml/2006/main">
  <p:cSld>
    <p:bg>
      <p:bgPr>
        <a:solidFill xmlns:a="http://schemas.openxmlformats.org/drawingml/2006/main">
          <a:srgbClr val="F7F6F1"/>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22CFE3C-CD5C-4122-B953-3F4FCBBED9AB}"/>
              </a:ext>
            </a:extLst>
          </p:cNvPr>
          <p:cNvSpPr>
            <a:spLocks xmlns:a="http://schemas.openxmlformats.org/drawingml/2006/main" noGrp="1"/>
          </p:cNvSpPr>
          <p:nvPr/>
        </p:nvSpPr>
        <p:spPr>
          <a:xfrm xmlns:a="http://schemas.openxmlformats.org/drawingml/2006/main">
            <a:off x="609600" y="304800"/>
            <a:ext cx="10763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350" b="1">
                <a:solidFill>
                  <a:srgbClr val="26756C"/>
                </a:solidFill>
                <a:latin typeface="Helvetica Neue"/>
                <a:ea typeface="Helvetica Neue"/>
                <a:cs typeface="Helvetica Neue"/>
              </a:defRPr>
            </a:pPr>
            <a:r>
              <a:rPr sz="1350" b="1">
                <a:solidFill>
                  <a:srgbClr val="26756C"/>
                </a:solidFill>
                <a:latin typeface="Helvetica Neue"/>
                <a:ea typeface="Helvetica Neue"/>
                <a:cs typeface="Helvetica Neue"/>
              </a:rPr>
              <a:t>КОНЦЕПЦИЯ БЕЗОПАСНОЙ РАЗРАБОТКИ</a:t>
            </a:r>
          </a:p>
        </p:txBody>
      </p:sp>
      <p:sp>
        <p:nvSpPr>
          <p:cNvPr id="2" name="">
            <a:extLst xmlns:a="http://schemas.openxmlformats.org/drawingml/2006/main">
              <a:ext uri="{FF2B5EF4-FFF2-40B4-BE49-F238E27FC236}">
                <a16:creationId xmlns:a16="http://schemas.microsoft.com/office/drawing/2014/main" id="{1ACE3952-3CCD-43AA-AC7B-7147A2781EEE}"/>
              </a:ext>
            </a:extLst>
          </p:cNvPr>
          <p:cNvSpPr>
            <a:spLocks xmlns:a="http://schemas.openxmlformats.org/drawingml/2006/main" noGrp="1"/>
          </p:cNvSpPr>
          <p:nvPr/>
        </p:nvSpPr>
        <p:spPr>
          <a:xfrm xmlns:a="http://schemas.openxmlformats.org/drawingml/2006/main">
            <a:off x="609600" y="838200"/>
            <a:ext cx="109728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300" b="1">
                <a:solidFill>
                  <a:srgbClr val="102A30"/>
                </a:solidFill>
                <a:latin typeface="Helvetica Neue"/>
                <a:ea typeface="Helvetica Neue"/>
                <a:cs typeface="Helvetica Neue"/>
              </a:defRPr>
            </a:pPr>
            <a:r>
              <a:rPr sz="3300" b="1">
                <a:solidFill>
                  <a:srgbClr val="102A30"/>
                </a:solidFill>
                <a:latin typeface="Helvetica Neue"/>
                <a:ea typeface="Helvetica Neue"/>
                <a:cs typeface="Helvetica Neue"/>
              </a:rPr>
              <a:t>Что уже есть и чего не хватает</a:t>
            </a:r>
          </a:p>
        </p:txBody>
      </p:sp>
      <p:sp>
        <p:nvSpPr>
          <p:cNvPr id="3" name="">
            <a:extLst xmlns:a="http://schemas.openxmlformats.org/drawingml/2006/main">
              <a:ext uri="{FF2B5EF4-FFF2-40B4-BE49-F238E27FC236}">
                <a16:creationId xmlns:a16="http://schemas.microsoft.com/office/drawing/2014/main" id="{49483CD4-91EB-4FB5-921C-78D64513F913}"/>
              </a:ext>
            </a:extLst>
          </p:cNvPr>
          <p:cNvSpPr>
            <a:spLocks xmlns:a="http://schemas.openxmlformats.org/drawingml/2006/main" noGrp="1"/>
          </p:cNvSpPr>
          <p:nvPr/>
        </p:nvSpPr>
        <p:spPr>
          <a:xfrm xmlns:a="http://schemas.openxmlformats.org/drawingml/2006/main">
            <a:off x="609600" y="6372225"/>
            <a:ext cx="10001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350" b="0">
                <a:solidFill>
                  <a:srgbClr val="59686B"/>
                </a:solidFill>
                <a:latin typeface="Helvetica Neue"/>
                <a:ea typeface="Helvetica Neue"/>
                <a:cs typeface="Helvetica Neue"/>
              </a:defRPr>
            </a:pPr>
            <a:r>
              <a:rPr sz="1350" b="0">
                <a:solidFill>
                  <a:srgbClr val="59686B"/>
                </a:solidFill>
                <a:latin typeface="Helvetica Neue"/>
                <a:ea typeface="Helvetica Neue"/>
                <a:cs typeface="Helvetica Neue"/>
              </a:rPr>
              <a:t>ЯвкаИБ / TaskFlow / ЭК1</a:t>
            </a:r>
          </a:p>
        </p:txBody>
      </p:sp>
      <p:sp>
        <p:nvSpPr>
          <p:cNvPr id="4" name="">
            <a:extLst xmlns:a="http://schemas.openxmlformats.org/drawingml/2006/main">
              <a:ext uri="{FF2B5EF4-FFF2-40B4-BE49-F238E27FC236}">
                <a16:creationId xmlns:a16="http://schemas.microsoft.com/office/drawing/2014/main" id="{5755EE69-5510-4909-9058-5F0204064B8B}"/>
              </a:ext>
            </a:extLst>
          </p:cNvPr>
          <p:cNvSpPr>
            <a:spLocks xmlns:a="http://schemas.openxmlformats.org/drawingml/2006/main" noGrp="1"/>
          </p:cNvSpPr>
          <p:nvPr/>
        </p:nvSpPr>
        <p:spPr>
          <a:xfrm xmlns:a="http://schemas.openxmlformats.org/drawingml/2006/main">
            <a:off x="11029950" y="6324600"/>
            <a:ext cx="619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00" b="1">
                <a:solidFill>
                  <a:srgbClr val="26756C"/>
                </a:solidFill>
                <a:latin typeface="Helvetica Neue"/>
                <a:ea typeface="Helvetica Neue"/>
                <a:cs typeface="Helvetica Neue"/>
              </a:defRPr>
            </a:pPr>
            <a:r>
              <a:rPr sz="1800" b="1">
                <a:solidFill>
                  <a:srgbClr val="26756C"/>
                </a:solidFill>
                <a:latin typeface="Helvetica Neue"/>
                <a:ea typeface="Helvetica Neue"/>
                <a:cs typeface="Helvetica Neue"/>
              </a:rPr>
              <a:t>05</a:t>
            </a:r>
          </a:p>
        </p:txBody>
      </p:sp>
      <p:sp>
        <p:nvSpPr>
          <p:cNvPr id="12" name="">
            <a:extLst xmlns:a="http://schemas.openxmlformats.org/drawingml/2006/main">
              <a:ext uri="{FF2B5EF4-FFF2-40B4-BE49-F238E27FC236}">
                <a16:creationId xmlns:a16="http://schemas.microsoft.com/office/drawing/2014/main" id="{0C045A3E-C67B-4BBE-B374-55C62D799643}"/>
              </a:ext>
            </a:extLst>
          </p:cNvPr>
          <p:cNvSpPr>
            <a:spLocks xmlns:a="http://schemas.openxmlformats.org/drawingml/2006/main" noGrp="1"/>
          </p:cNvSpPr>
          <p:nvPr/>
        </p:nvSpPr>
        <p:spPr>
          <a:xfrm xmlns:a="http://schemas.openxmlformats.org/drawingml/2006/main">
            <a:off x="609600" y="2028825"/>
            <a:ext cx="50958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26756C"/>
                </a:solidFill>
                <a:latin typeface="Helvetica Neue"/>
                <a:ea typeface="Helvetica Neue"/>
                <a:cs typeface="Helvetica Neue"/>
              </a:defRPr>
            </a:pPr>
            <a:r>
              <a:rPr sz="3600" b="1">
                <a:solidFill>
                  <a:srgbClr val="26756C"/>
                </a:solidFill>
                <a:latin typeface="Helvetica Neue"/>
                <a:ea typeface="Helvetica Neue"/>
                <a:cs typeface="Helvetica Neue"/>
              </a:rPr>
              <a:t>27 тестов прошли</a:t>
            </a:r>
          </a:p>
        </p:txBody>
      </p:sp>
      <p:sp>
        <p:nvSpPr>
          <p:cNvPr id="13" name="">
            <a:extLst xmlns:a="http://schemas.openxmlformats.org/drawingml/2006/main">
              <a:ext uri="{FF2B5EF4-FFF2-40B4-BE49-F238E27FC236}">
                <a16:creationId xmlns:a16="http://schemas.microsoft.com/office/drawing/2014/main" id="{99F8A746-BEBB-4ED2-BFDF-F310063523A6}"/>
              </a:ext>
            </a:extLst>
          </p:cNvPr>
          <p:cNvSpPr>
            <a:spLocks xmlns:a="http://schemas.openxmlformats.org/drawingml/2006/main" noGrp="1"/>
          </p:cNvSpPr>
          <p:nvPr/>
        </p:nvSpPr>
        <p:spPr>
          <a:xfrm xmlns:a="http://schemas.openxmlformats.org/drawingml/2006/main">
            <a:off x="609600" y="3057525"/>
            <a:ext cx="485775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02A30"/>
                </a:solidFill>
                <a:latin typeface="Helvetica Neue"/>
                <a:ea typeface="Helvetica Neue"/>
                <a:cs typeface="Helvetica Neue"/>
              </a:defRPr>
            </a:pPr>
            <a:r>
              <a:rPr sz="2100" b="0">
                <a:solidFill>
                  <a:srgbClr val="102A30"/>
                </a:solidFill>
                <a:latin typeface="Helvetica Neue"/>
                <a:ea typeface="Helvetica Neue"/>
                <a:cs typeface="Helvetica Neue"/>
              </a:rPr>
              <a:t>Результаты и версия кода</a:t>
            </a:r>
          </a:p>
          <a:p xmlns:a="http://schemas.openxmlformats.org/drawingml/2006/main">
            <a:pPr>
              <a:defRPr sz="2100" b="0">
                <a:solidFill>
                  <a:srgbClr val="102A30"/>
                </a:solidFill>
                <a:latin typeface="Helvetica Neue"/>
                <a:ea typeface="Helvetica Neue"/>
                <a:cs typeface="Helvetica Neue"/>
              </a:defRPr>
            </a:pPr>
            <a:r>
              <a:rPr sz="2100" b="0">
                <a:solidFill>
                  <a:srgbClr val="102A30"/>
                </a:solidFill>
                <a:latin typeface="Helvetica Neue"/>
                <a:ea typeface="Helvetica Neue"/>
                <a:cs typeface="Helvetica Neue"/>
              </a:rPr>
              <a:t>сохранены в репозитории.</a:t>
            </a:r>
          </a:p>
          <a:p xmlns:a="http://schemas.openxmlformats.org/drawingml/2006/main">
            <a:r>
              <a:t/>
            </a:r>
          </a:p>
          <a:p xmlns:a="http://schemas.openxmlformats.org/drawingml/2006/main">
            <a:pPr>
              <a:defRPr sz="2100" b="0">
                <a:solidFill>
                  <a:srgbClr val="102A30"/>
                </a:solidFill>
                <a:latin typeface="Helvetica Neue"/>
                <a:ea typeface="Helvetica Neue"/>
                <a:cs typeface="Helvetica Neue"/>
              </a:defRPr>
            </a:pPr>
            <a:r>
              <a:rPr sz="2100" b="0">
                <a:solidFill>
                  <a:srgbClr val="102A30"/>
                </a:solidFill>
                <a:latin typeface="Helvetica Neue"/>
                <a:ea typeface="Helvetica Neue"/>
                <a:cs typeface="Helvetica Neue"/>
              </a:rPr>
              <a:t>Срез проверки: 04.10.2026</a:t>
            </a:r>
          </a:p>
        </p:txBody>
      </p:sp>
      <p:sp>
        <p:nvSpPr>
          <p:cNvPr id="14" name="">
            <a:extLst xmlns:a="http://schemas.openxmlformats.org/drawingml/2006/main">
              <a:ext uri="{FF2B5EF4-FFF2-40B4-BE49-F238E27FC236}">
                <a16:creationId xmlns:a16="http://schemas.microsoft.com/office/drawing/2014/main" id="{452308AF-18C7-4A31-BE20-1C5DD28A1318}"/>
              </a:ext>
            </a:extLst>
          </p:cNvPr>
          <p:cNvSpPr>
            <a:spLocks xmlns:a="http://schemas.openxmlformats.org/drawingml/2006/main" noGrp="1"/>
          </p:cNvSpPr>
          <p:nvPr/>
        </p:nvSpPr>
        <p:spPr>
          <a:xfrm xmlns:a="http://schemas.openxmlformats.org/drawingml/2006/main">
            <a:off x="6191250" y="2009775"/>
            <a:ext cx="54102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102A30"/>
                </a:solidFill>
                <a:latin typeface="Helvetica Neue"/>
                <a:ea typeface="Helvetica Neue"/>
                <a:cs typeface="Helvetica Neue"/>
              </a:defRPr>
            </a:pPr>
            <a:r>
              <a:rPr sz="2700" b="1">
                <a:solidFill>
                  <a:srgbClr val="102A30"/>
                </a:solidFill>
                <a:latin typeface="Helvetica Neue"/>
                <a:ea typeface="Helvetica Neue"/>
                <a:cs typeface="Helvetica Neue"/>
              </a:rPr>
              <a:t>Нет сохранённой</a:t>
            </a:r>
          </a:p>
          <a:p xmlns:a="http://schemas.openxmlformats.org/drawingml/2006/main">
            <a:pPr>
              <a:defRPr sz="2700" b="1">
                <a:solidFill>
                  <a:srgbClr val="102A30"/>
                </a:solidFill>
                <a:latin typeface="Helvetica Neue"/>
                <a:ea typeface="Helvetica Neue"/>
                <a:cs typeface="Helvetica Neue"/>
              </a:defRPr>
            </a:pPr>
            <a:r>
              <a:rPr sz="2700" b="1">
                <a:solidFill>
                  <a:srgbClr val="102A30"/>
                </a:solidFill>
                <a:latin typeface="Helvetica Neue"/>
                <a:ea typeface="Helvetica Neue"/>
                <a:cs typeface="Helvetica Neue"/>
              </a:rPr>
              <a:t>проверки партнёром</a:t>
            </a:r>
          </a:p>
        </p:txBody>
      </p:sp>
      <p:sp>
        <p:nvSpPr>
          <p:cNvPr id="15" name="">
            <a:extLst xmlns:a="http://schemas.openxmlformats.org/drawingml/2006/main">
              <a:ext uri="{FF2B5EF4-FFF2-40B4-BE49-F238E27FC236}">
                <a16:creationId xmlns:a16="http://schemas.microsoft.com/office/drawing/2014/main" id="{D9C2119C-3533-4180-9019-ACC86707BC3C}"/>
              </a:ext>
            </a:extLst>
          </p:cNvPr>
          <p:cNvSpPr>
            <a:spLocks xmlns:a="http://schemas.openxmlformats.org/drawingml/2006/main" noGrp="1"/>
          </p:cNvSpPr>
          <p:nvPr/>
        </p:nvSpPr>
        <p:spPr>
          <a:xfrm xmlns:a="http://schemas.openxmlformats.org/drawingml/2006/main">
            <a:off x="6191250" y="3162300"/>
            <a:ext cx="5381625"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02A30"/>
                </a:solidFill>
                <a:latin typeface="Helvetica Neue"/>
                <a:ea typeface="Helvetica Neue"/>
                <a:cs typeface="Helvetica Neue"/>
              </a:defRPr>
            </a:pPr>
            <a:r>
              <a:rPr sz="2100" b="0">
                <a:solidFill>
                  <a:srgbClr val="102A30"/>
                </a:solidFill>
                <a:latin typeface="Helvetica Neue"/>
                <a:ea typeface="Helvetica Neue"/>
                <a:cs typeface="Helvetica Neue"/>
              </a:rPr>
              <a:t>Код и тест могут повторять</a:t>
            </a:r>
          </a:p>
          <a:p xmlns:a="http://schemas.openxmlformats.org/drawingml/2006/main">
            <a:pPr>
              <a:defRPr sz="2100" b="0">
                <a:solidFill>
                  <a:srgbClr val="102A30"/>
                </a:solidFill>
                <a:latin typeface="Helvetica Neue"/>
                <a:ea typeface="Helvetica Neue"/>
                <a:cs typeface="Helvetica Neue"/>
              </a:defRPr>
            </a:pPr>
            <a:r>
              <a:rPr sz="2100" b="0">
                <a:solidFill>
                  <a:srgbClr val="102A30"/>
                </a:solidFill>
                <a:latin typeface="Helvetica Neue"/>
                <a:ea typeface="Helvetica Neue"/>
                <a:cs typeface="Helvetica Neue"/>
              </a:rPr>
              <a:t>одну и ту же ошибку.</a:t>
            </a:r>
          </a:p>
          <a:p xmlns:a="http://schemas.openxmlformats.org/drawingml/2006/main">
            <a:r>
              <a:t/>
            </a:r>
          </a:p>
          <a:p xmlns:a="http://schemas.openxmlformats.org/drawingml/2006/main">
            <a:pPr>
              <a:defRPr sz="2100" b="0">
                <a:solidFill>
                  <a:srgbClr val="102A30"/>
                </a:solidFill>
                <a:latin typeface="Helvetica Neue"/>
                <a:ea typeface="Helvetica Neue"/>
                <a:cs typeface="Helvetica Neue"/>
              </a:defRPr>
            </a:pPr>
            <a:r>
              <a:rPr sz="2100" b="0">
                <a:solidFill>
                  <a:srgbClr val="102A30"/>
                </a:solidFill>
                <a:latin typeface="Helvetica Neue"/>
                <a:ea typeface="Helvetica Neue"/>
                <a:cs typeface="Helvetica Neue"/>
              </a:rPr>
              <a:t>Нужно независимо проверить</a:t>
            </a:r>
          </a:p>
          <a:p xmlns:a="http://schemas.openxmlformats.org/drawingml/2006/main">
            <a:pPr>
              <a:defRPr sz="2100" b="0">
                <a:solidFill>
                  <a:srgbClr val="102A30"/>
                </a:solidFill>
                <a:latin typeface="Helvetica Neue"/>
                <a:ea typeface="Helvetica Neue"/>
                <a:cs typeface="Helvetica Neue"/>
              </a:defRPr>
            </a:pPr>
            <a:r>
              <a:rPr sz="2100" b="0">
                <a:solidFill>
                  <a:srgbClr val="102A30"/>
                </a:solidFill>
                <a:latin typeface="Helvetica Neue"/>
                <a:ea typeface="Helvetica Neue"/>
                <a:cs typeface="Helvetica Neue"/>
              </a:rPr>
              <a:t>права пользователей.</a:t>
            </a:r>
          </a:p>
        </p:txBody>
      </p:sp>
      <p:sp>
        <p:nvSpPr>
          <p:cNvPr id="16" name="">
            <a:extLst xmlns:a="http://schemas.openxmlformats.org/drawingml/2006/main">
              <a:ext uri="{FF2B5EF4-FFF2-40B4-BE49-F238E27FC236}">
                <a16:creationId xmlns:a16="http://schemas.microsoft.com/office/drawing/2014/main" id="{2D232191-E767-431C-9E30-B38E784F1AE3}"/>
              </a:ext>
            </a:extLst>
          </p:cNvPr>
          <p:cNvSpPr>
            <a:spLocks xmlns:a="http://schemas.openxmlformats.org/drawingml/2006/main" noGrp="1"/>
          </p:cNvSpPr>
          <p:nvPr/>
        </p:nvSpPr>
        <p:spPr>
          <a:xfrm xmlns:a="http://schemas.openxmlformats.org/drawingml/2006/main">
            <a:off x="609600" y="5276850"/>
            <a:ext cx="109728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6756C"/>
                </a:solidFill>
                <a:latin typeface="Helvetica Neue"/>
                <a:ea typeface="Helvetica Neue"/>
                <a:cs typeface="Helvetica Neue"/>
              </a:defRPr>
            </a:pPr>
            <a:r>
              <a:rPr sz="2250" b="1">
                <a:solidFill>
                  <a:srgbClr val="26756C"/>
                </a:solidFill>
                <a:latin typeface="Helvetica Neue"/>
                <a:ea typeface="Helvetica Neue"/>
                <a:cs typeface="Helvetica Neue"/>
              </a:rPr>
              <a:t>Первый шаг: каждый проверяет важный результат другого.</a:t>
            </a:r>
          </a:p>
        </p:txBody>
      </p:sp>
      <p:sp>
        <p:nvSpPr>
          <p:cNvPr id="17" name="">
            <a:extLst xmlns:a="http://schemas.openxmlformats.org/drawingml/2006/main">
              <a:ext uri="{FF2B5EF4-FFF2-40B4-BE49-F238E27FC236}">
                <a16:creationId xmlns:a16="http://schemas.microsoft.com/office/drawing/2014/main" id="{7AD3F8C9-BE81-437B-BFDF-F86277668C61}"/>
              </a:ext>
            </a:extLst>
          </p:cNvPr>
          <p:cNvSpPr>
            <a:spLocks xmlns:a="http://schemas.openxmlformats.org/drawingml/2006/main" noGrp="1"/>
          </p:cNvSpPr>
          <p:nvPr/>
        </p:nvSpPr>
        <p:spPr>
          <a:xfrm xmlns:a="http://schemas.openxmlformats.org/drawingml/2006/main">
            <a:off x="609600" y="59531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59686B"/>
                </a:solidFill>
                <a:latin typeface="Helvetica Neue"/>
                <a:ea typeface="Helvetica Neue"/>
                <a:cs typeface="Helvetica Neue"/>
              </a:defRPr>
            </a:pPr>
            <a:r>
              <a:rPr sz="1875" b="0">
                <a:solidFill>
                  <a:srgbClr val="59686B"/>
                </a:solidFill>
                <a:latin typeface="Helvetica Neue"/>
                <a:ea typeface="Helvetica Neue"/>
                <a:cs typeface="Helvetica Neue"/>
              </a:rPr>
              <a:t>Также в плане: проверка библиотек и установка из архива.</a:t>
            </a:r>
          </a:p>
        </p:txBody>
      </p:sp>
    </p:spTree>
    <p:extLst>
      <p:ext uri="{BB962C8B-B14F-4D97-AF65-F5344CB8AC3E}">
        <p14:creationId xmlns:p14="http://schemas.microsoft.com/office/powerpoint/2010/main" val="950495193"/>
      </p:ext>
    </p:extLst>
  </p:cSld>
</p:sld>
</file>

<file path=ppt/slides/slide6.xml><?xml version="1.0" encoding="utf-8"?>
<p:sld xmlns:p="http://schemas.openxmlformats.org/presentationml/2006/main">
  <p:cSld>
    <p:bg>
      <p:bgPr>
        <a:solidFill xmlns:a="http://schemas.openxmlformats.org/drawingml/2006/main">
          <a:srgbClr val="F7F6F1"/>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CD12E6B-543E-40BB-8C37-F1BF5E1EC074}"/>
              </a:ext>
            </a:extLst>
          </p:cNvPr>
          <p:cNvSpPr>
            <a:spLocks xmlns:a="http://schemas.openxmlformats.org/drawingml/2006/main" noGrp="1"/>
          </p:cNvSpPr>
          <p:nvPr/>
        </p:nvSpPr>
        <p:spPr>
          <a:xfrm xmlns:a="http://schemas.openxmlformats.org/drawingml/2006/main">
            <a:off x="609600" y="304800"/>
            <a:ext cx="10763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350" b="1">
                <a:solidFill>
                  <a:srgbClr val="26756C"/>
                </a:solidFill>
                <a:latin typeface="Helvetica Neue"/>
                <a:ea typeface="Helvetica Neue"/>
                <a:cs typeface="Helvetica Neue"/>
              </a:defRPr>
            </a:pPr>
            <a:r>
              <a:rPr sz="1350" b="1">
                <a:solidFill>
                  <a:srgbClr val="26756C"/>
                </a:solidFill>
                <a:latin typeface="Helvetica Neue"/>
                <a:ea typeface="Helvetica Neue"/>
                <a:cs typeface="Helvetica Neue"/>
              </a:rPr>
              <a:t>КОНЦЕПЦИЯ БЕЗОПАСНОЙ РАЗРАБОТКИ</a:t>
            </a:r>
          </a:p>
        </p:txBody>
      </p:sp>
      <p:sp>
        <p:nvSpPr>
          <p:cNvPr id="2" name="">
            <a:extLst xmlns:a="http://schemas.openxmlformats.org/drawingml/2006/main">
              <a:ext uri="{FF2B5EF4-FFF2-40B4-BE49-F238E27FC236}">
                <a16:creationId xmlns:a16="http://schemas.microsoft.com/office/drawing/2014/main" id="{1F1F4FC4-EE0D-4131-97DB-64897854A388}"/>
              </a:ext>
            </a:extLst>
          </p:cNvPr>
          <p:cNvSpPr>
            <a:spLocks xmlns:a="http://schemas.openxmlformats.org/drawingml/2006/main" noGrp="1"/>
          </p:cNvSpPr>
          <p:nvPr/>
        </p:nvSpPr>
        <p:spPr>
          <a:xfrm xmlns:a="http://schemas.openxmlformats.org/drawingml/2006/main">
            <a:off x="609600" y="838200"/>
            <a:ext cx="109728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300" b="1">
                <a:solidFill>
                  <a:srgbClr val="102A30"/>
                </a:solidFill>
                <a:latin typeface="Helvetica Neue"/>
                <a:ea typeface="Helvetica Neue"/>
                <a:cs typeface="Helvetica Neue"/>
              </a:defRPr>
            </a:pPr>
            <a:r>
              <a:rPr sz="3300" b="1">
                <a:solidFill>
                  <a:srgbClr val="102A30"/>
                </a:solidFill>
                <a:latin typeface="Helvetica Neue"/>
                <a:ea typeface="Helvetica Neue"/>
                <a:cs typeface="Helvetica Neue"/>
              </a:rPr>
              <a:t>Как проверяем изменения</a:t>
            </a:r>
          </a:p>
        </p:txBody>
      </p:sp>
      <p:sp>
        <p:nvSpPr>
          <p:cNvPr id="3" name="">
            <a:extLst xmlns:a="http://schemas.openxmlformats.org/drawingml/2006/main">
              <a:ext uri="{FF2B5EF4-FFF2-40B4-BE49-F238E27FC236}">
                <a16:creationId xmlns:a16="http://schemas.microsoft.com/office/drawing/2014/main" id="{7E06421F-B56C-4E3A-81AA-03E620BFACAE}"/>
              </a:ext>
            </a:extLst>
          </p:cNvPr>
          <p:cNvSpPr>
            <a:spLocks xmlns:a="http://schemas.openxmlformats.org/drawingml/2006/main" noGrp="1"/>
          </p:cNvSpPr>
          <p:nvPr/>
        </p:nvSpPr>
        <p:spPr>
          <a:xfrm xmlns:a="http://schemas.openxmlformats.org/drawingml/2006/main">
            <a:off x="609600" y="6372225"/>
            <a:ext cx="10001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350" b="0">
                <a:solidFill>
                  <a:srgbClr val="59686B"/>
                </a:solidFill>
                <a:latin typeface="Helvetica Neue"/>
                <a:ea typeface="Helvetica Neue"/>
                <a:cs typeface="Helvetica Neue"/>
              </a:defRPr>
            </a:pPr>
            <a:r>
              <a:rPr sz="1350" b="0">
                <a:solidFill>
                  <a:srgbClr val="59686B"/>
                </a:solidFill>
                <a:latin typeface="Helvetica Neue"/>
                <a:ea typeface="Helvetica Neue"/>
                <a:cs typeface="Helvetica Neue"/>
              </a:rPr>
              <a:t>ЯвкаИБ / TaskFlow / ЭК1</a:t>
            </a:r>
          </a:p>
        </p:txBody>
      </p:sp>
      <p:sp>
        <p:nvSpPr>
          <p:cNvPr id="4" name="">
            <a:extLst xmlns:a="http://schemas.openxmlformats.org/drawingml/2006/main">
              <a:ext uri="{FF2B5EF4-FFF2-40B4-BE49-F238E27FC236}">
                <a16:creationId xmlns:a16="http://schemas.microsoft.com/office/drawing/2014/main" id="{507D2BF9-671A-4A48-8268-793497F6835C}"/>
              </a:ext>
            </a:extLst>
          </p:cNvPr>
          <p:cNvSpPr>
            <a:spLocks xmlns:a="http://schemas.openxmlformats.org/drawingml/2006/main" noGrp="1"/>
          </p:cNvSpPr>
          <p:nvPr/>
        </p:nvSpPr>
        <p:spPr>
          <a:xfrm xmlns:a="http://schemas.openxmlformats.org/drawingml/2006/main">
            <a:off x="11029950" y="6324600"/>
            <a:ext cx="619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00" b="1">
                <a:solidFill>
                  <a:srgbClr val="26756C"/>
                </a:solidFill>
                <a:latin typeface="Helvetica Neue"/>
                <a:ea typeface="Helvetica Neue"/>
                <a:cs typeface="Helvetica Neue"/>
              </a:defRPr>
            </a:pPr>
            <a:r>
              <a:rPr sz="1800" b="1">
                <a:solidFill>
                  <a:srgbClr val="26756C"/>
                </a:solidFill>
                <a:latin typeface="Helvetica Neue"/>
                <a:ea typeface="Helvetica Neue"/>
                <a:cs typeface="Helvetica Neue"/>
              </a:rPr>
              <a:t>06</a:t>
            </a:r>
          </a:p>
        </p:txBody>
      </p:sp>
      <p:sp>
        <p:nvSpPr>
          <p:cNvPr id="12" name="">
            <a:extLst xmlns:a="http://schemas.openxmlformats.org/drawingml/2006/main">
              <a:ext uri="{FF2B5EF4-FFF2-40B4-BE49-F238E27FC236}">
                <a16:creationId xmlns:a16="http://schemas.microsoft.com/office/drawing/2014/main" id="{76AA19FD-CB8B-4010-A65D-F881CC0AF7E4}"/>
              </a:ext>
            </a:extLst>
          </p:cNvPr>
          <p:cNvSpPr>
            <a:spLocks xmlns:a="http://schemas.openxmlformats.org/drawingml/2006/main" noGrp="1"/>
          </p:cNvSpPr>
          <p:nvPr/>
        </p:nvSpPr>
        <p:spPr>
          <a:xfrm xmlns:a="http://schemas.openxmlformats.org/drawingml/2006/main">
            <a:off x="609600" y="2009775"/>
            <a:ext cx="50482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26756C"/>
                </a:solidFill>
                <a:latin typeface="Helvetica Neue"/>
                <a:ea typeface="Helvetica Neue"/>
                <a:cs typeface="Helvetica Neue"/>
              </a:defRPr>
            </a:pPr>
            <a:r>
              <a:rPr sz="2550" b="1">
                <a:solidFill>
                  <a:srgbClr val="26756C"/>
                </a:solidFill>
                <a:latin typeface="Helvetica Neue"/>
                <a:ea typeface="Helvetica Neue"/>
                <a:cs typeface="Helvetica Neue"/>
              </a:rPr>
              <a:t>Порядок работы</a:t>
            </a:r>
          </a:p>
        </p:txBody>
      </p:sp>
      <p:sp>
        <p:nvSpPr>
          <p:cNvPr id="13" name="">
            <a:extLst xmlns:a="http://schemas.openxmlformats.org/drawingml/2006/main">
              <a:ext uri="{FF2B5EF4-FFF2-40B4-BE49-F238E27FC236}">
                <a16:creationId xmlns:a16="http://schemas.microsoft.com/office/drawing/2014/main" id="{E23F74E6-030A-48DB-9B21-EE4AD77241E4}"/>
              </a:ext>
            </a:extLst>
          </p:cNvPr>
          <p:cNvSpPr>
            <a:spLocks xmlns:a="http://schemas.openxmlformats.org/drawingml/2006/main" noGrp="1"/>
          </p:cNvSpPr>
          <p:nvPr/>
        </p:nvSpPr>
        <p:spPr>
          <a:xfrm xmlns:a="http://schemas.openxmlformats.org/drawingml/2006/main">
            <a:off x="609600" y="2724150"/>
            <a:ext cx="5381625" cy="2209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02A30"/>
                </a:solidFill>
                <a:latin typeface="Helvetica Neue"/>
                <a:ea typeface="Helvetica Neue"/>
                <a:cs typeface="Helvetica Neue"/>
              </a:defRPr>
            </a:pPr>
            <a:r>
              <a:rPr sz="2100" b="0">
                <a:solidFill>
                  <a:srgbClr val="102A30"/>
                </a:solidFill>
                <a:latin typeface="Helvetica Neue"/>
                <a:ea typeface="Helvetica Neue"/>
                <a:cs typeface="Helvetica Neue"/>
              </a:rPr>
              <a:t>1. Автор описывает нужное поведение.</a:t>
            </a:r>
          </a:p>
          <a:p xmlns:a="http://schemas.openxmlformats.org/drawingml/2006/main">
            <a:pPr>
              <a:defRPr sz="2100" b="0">
                <a:solidFill>
                  <a:srgbClr val="102A30"/>
                </a:solidFill>
                <a:latin typeface="Helvetica Neue"/>
                <a:ea typeface="Helvetica Neue"/>
                <a:cs typeface="Helvetica Neue"/>
              </a:defRPr>
            </a:pPr>
            <a:r>
              <a:rPr sz="2100" b="0">
                <a:solidFill>
                  <a:srgbClr val="102A30"/>
                </a:solidFill>
                <a:latin typeface="Helvetica Neue"/>
                <a:ea typeface="Helvetica Neue"/>
                <a:cs typeface="Helvetica Neue"/>
              </a:rPr>
              <a:t>2. Меняет код и запускает тесты.</a:t>
            </a:r>
          </a:p>
          <a:p xmlns:a="http://schemas.openxmlformats.org/drawingml/2006/main">
            <a:pPr>
              <a:defRPr sz="2100" b="0">
                <a:solidFill>
                  <a:srgbClr val="102A30"/>
                </a:solidFill>
                <a:latin typeface="Helvetica Neue"/>
                <a:ea typeface="Helvetica Neue"/>
                <a:cs typeface="Helvetica Neue"/>
              </a:defRPr>
            </a:pPr>
            <a:r>
              <a:rPr sz="2100" b="0">
                <a:solidFill>
                  <a:srgbClr val="102A30"/>
                </a:solidFill>
                <a:latin typeface="Helvetica Neue"/>
                <a:ea typeface="Helvetica Neue"/>
                <a:cs typeface="Helvetica Neue"/>
              </a:rPr>
              <a:t>3. Партнёр читает код и повторяет</a:t>
            </a:r>
          </a:p>
          <a:p xmlns:a="http://schemas.openxmlformats.org/drawingml/2006/main">
            <a:pPr>
              <a:defRPr sz="2100" b="0">
                <a:solidFill>
                  <a:srgbClr val="102A30"/>
                </a:solidFill>
                <a:latin typeface="Helvetica Neue"/>
                <a:ea typeface="Helvetica Neue"/>
                <a:cs typeface="Helvetica Neue"/>
              </a:defRPr>
            </a:pPr>
            <a:r>
              <a:rPr sz="2100" b="0">
                <a:solidFill>
                  <a:srgbClr val="102A30"/>
                </a:solidFill>
                <a:latin typeface="Helvetica Neue"/>
                <a:ea typeface="Helvetica Neue"/>
                <a:cs typeface="Helvetica Neue"/>
              </a:rPr>
              <a:t>    важную проверку.</a:t>
            </a:r>
          </a:p>
          <a:p xmlns:a="http://schemas.openxmlformats.org/drawingml/2006/main">
            <a:pPr>
              <a:defRPr sz="2100" b="0">
                <a:solidFill>
                  <a:srgbClr val="102A30"/>
                </a:solidFill>
                <a:latin typeface="Helvetica Neue"/>
                <a:ea typeface="Helvetica Neue"/>
                <a:cs typeface="Helvetica Neue"/>
              </a:defRPr>
            </a:pPr>
            <a:r>
              <a:rPr sz="2100" b="0">
                <a:solidFill>
                  <a:srgbClr val="102A30"/>
                </a:solidFill>
                <a:latin typeface="Helvetica Neue"/>
                <a:ea typeface="Helvetica Neue"/>
                <a:cs typeface="Helvetica Neue"/>
              </a:rPr>
              <a:t>4. Сохраняем результат для версии.</a:t>
            </a:r>
          </a:p>
        </p:txBody>
      </p:sp>
      <p:sp>
        <p:nvSpPr>
          <p:cNvPr id="14" name="">
            <a:extLst xmlns:a="http://schemas.openxmlformats.org/drawingml/2006/main">
              <a:ext uri="{FF2B5EF4-FFF2-40B4-BE49-F238E27FC236}">
                <a16:creationId xmlns:a16="http://schemas.microsoft.com/office/drawing/2014/main" id="{529B33DD-76D7-4B46-A4AA-1C6AE0591145}"/>
              </a:ext>
            </a:extLst>
          </p:cNvPr>
          <p:cNvSpPr>
            <a:spLocks xmlns:a="http://schemas.openxmlformats.org/drawingml/2006/main" noGrp="1"/>
          </p:cNvSpPr>
          <p:nvPr/>
        </p:nvSpPr>
        <p:spPr>
          <a:xfrm xmlns:a="http://schemas.openxmlformats.org/drawingml/2006/main">
            <a:off x="6419850" y="2009775"/>
            <a:ext cx="51435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26756C"/>
                </a:solidFill>
                <a:latin typeface="Helvetica Neue"/>
                <a:ea typeface="Helvetica Neue"/>
                <a:cs typeface="Helvetica Neue"/>
              </a:defRPr>
            </a:pPr>
            <a:r>
              <a:rPr sz="2550" b="1">
                <a:solidFill>
                  <a:srgbClr val="26756C"/>
                </a:solidFill>
                <a:latin typeface="Helvetica Neue"/>
                <a:ea typeface="Helvetica Neue"/>
                <a:cs typeface="Helvetica Neue"/>
              </a:rPr>
              <a:t>Пример: наблюдатель</a:t>
            </a:r>
          </a:p>
        </p:txBody>
      </p:sp>
      <p:sp>
        <p:nvSpPr>
          <p:cNvPr id="15" name="">
            <a:extLst xmlns:a="http://schemas.openxmlformats.org/drawingml/2006/main">
              <a:ext uri="{FF2B5EF4-FFF2-40B4-BE49-F238E27FC236}">
                <a16:creationId xmlns:a16="http://schemas.microsoft.com/office/drawing/2014/main" id="{F10CB677-5CD1-430F-BE1C-23CA6155F44C}"/>
              </a:ext>
            </a:extLst>
          </p:cNvPr>
          <p:cNvSpPr>
            <a:spLocks xmlns:a="http://schemas.openxmlformats.org/drawingml/2006/main" noGrp="1"/>
          </p:cNvSpPr>
          <p:nvPr/>
        </p:nvSpPr>
        <p:spPr>
          <a:xfrm xmlns:a="http://schemas.openxmlformats.org/drawingml/2006/main">
            <a:off x="6419850" y="2724150"/>
            <a:ext cx="514350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02A30"/>
                </a:solidFill>
                <a:latin typeface="Helvetica Neue"/>
                <a:ea typeface="Helvetica Neue"/>
                <a:cs typeface="Helvetica Neue"/>
              </a:defRPr>
            </a:pPr>
            <a:r>
              <a:rPr sz="2100" b="0">
                <a:solidFill>
                  <a:srgbClr val="102A30"/>
                </a:solidFill>
                <a:latin typeface="Helvetica Neue"/>
                <a:ea typeface="Helvetica Neue"/>
                <a:cs typeface="Helvetica Neue"/>
              </a:rPr>
              <a:t>Пробуем изменить задачу</a:t>
            </a:r>
          </a:p>
          <a:p xmlns:a="http://schemas.openxmlformats.org/drawingml/2006/main">
            <a:pPr>
              <a:defRPr sz="2100" b="0">
                <a:solidFill>
                  <a:srgbClr val="102A30"/>
                </a:solidFill>
                <a:latin typeface="Helvetica Neue"/>
                <a:ea typeface="Helvetica Neue"/>
                <a:cs typeface="Helvetica Neue"/>
              </a:defRPr>
            </a:pPr>
            <a:r>
              <a:rPr sz="2100" b="0">
                <a:solidFill>
                  <a:srgbClr val="102A30"/>
                </a:solidFill>
                <a:latin typeface="Helvetica Neue"/>
                <a:ea typeface="Helvetica Neue"/>
                <a:cs typeface="Helvetica Neue"/>
              </a:rPr>
              <a:t>прямым запросом к серверу.</a:t>
            </a:r>
          </a:p>
          <a:p xmlns:a="http://schemas.openxmlformats.org/drawingml/2006/main">
            <a:r>
              <a:t/>
            </a:r>
          </a:p>
          <a:p xmlns:a="http://schemas.openxmlformats.org/drawingml/2006/main">
            <a:pPr>
              <a:defRPr sz="2100" b="0">
                <a:solidFill>
                  <a:srgbClr val="102A30"/>
                </a:solidFill>
                <a:latin typeface="Helvetica Neue"/>
                <a:ea typeface="Helvetica Neue"/>
                <a:cs typeface="Helvetica Neue"/>
              </a:defRPr>
            </a:pPr>
            <a:r>
              <a:rPr sz="2100" b="0">
                <a:solidFill>
                  <a:srgbClr val="102A30"/>
                </a:solidFill>
                <a:latin typeface="Helvetica Neue"/>
                <a:ea typeface="Helvetica Neue"/>
                <a:cs typeface="Helvetica Neue"/>
              </a:rPr>
              <a:t>Ожидаем отказ.</a:t>
            </a:r>
          </a:p>
          <a:p xmlns:a="http://schemas.openxmlformats.org/drawingml/2006/main">
            <a:pPr>
              <a:defRPr sz="2100" b="0">
                <a:solidFill>
                  <a:srgbClr val="102A30"/>
                </a:solidFill>
                <a:latin typeface="Helvetica Neue"/>
                <a:ea typeface="Helvetica Neue"/>
                <a:cs typeface="Helvetica Neue"/>
              </a:defRPr>
            </a:pPr>
            <a:r>
              <a:rPr sz="2100" b="0">
                <a:solidFill>
                  <a:srgbClr val="102A30"/>
                </a:solidFill>
                <a:latin typeface="Helvetica Neue"/>
                <a:ea typeface="Helvetica Neue"/>
                <a:cs typeface="Helvetica Neue"/>
              </a:rPr>
              <a:t>Данные остаются прежними.</a:t>
            </a:r>
          </a:p>
        </p:txBody>
      </p:sp>
      <p:sp>
        <p:nvSpPr>
          <p:cNvPr id="16" name="">
            <a:extLst xmlns:a="http://schemas.openxmlformats.org/drawingml/2006/main">
              <a:ext uri="{FF2B5EF4-FFF2-40B4-BE49-F238E27FC236}">
                <a16:creationId xmlns:a16="http://schemas.microsoft.com/office/drawing/2014/main" id="{F46AC114-CF0D-4E8C-A63F-A9FEA51CE709}"/>
              </a:ext>
            </a:extLst>
          </p:cNvPr>
          <p:cNvSpPr>
            <a:spLocks xmlns:a="http://schemas.openxmlformats.org/drawingml/2006/main" noGrp="1"/>
          </p:cNvSpPr>
          <p:nvPr/>
        </p:nvSpPr>
        <p:spPr>
          <a:xfrm xmlns:a="http://schemas.openxmlformats.org/drawingml/2006/main">
            <a:off x="609600" y="5286375"/>
            <a:ext cx="109728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26756C"/>
                </a:solidFill>
                <a:latin typeface="Helvetica Neue"/>
                <a:ea typeface="Helvetica Neue"/>
                <a:cs typeface="Helvetica Neue"/>
              </a:defRPr>
            </a:pPr>
            <a:r>
              <a:rPr sz="2175" b="1">
                <a:solidFill>
                  <a:srgbClr val="26756C"/>
                </a:solidFill>
                <a:latin typeface="Helvetica Neue"/>
                <a:ea typeface="Helvetica Neue"/>
                <a:cs typeface="Helvetica Neue"/>
              </a:rPr>
              <a:t>При нарушении прав или без проверки партнёра изменение ждёт.</a:t>
            </a:r>
          </a:p>
        </p:txBody>
      </p:sp>
      <p:sp>
        <p:nvSpPr>
          <p:cNvPr id="17" name="">
            <a:extLst xmlns:a="http://schemas.openxmlformats.org/drawingml/2006/main">
              <a:ext uri="{FF2B5EF4-FFF2-40B4-BE49-F238E27FC236}">
                <a16:creationId xmlns:a16="http://schemas.microsoft.com/office/drawing/2014/main" id="{3421A573-B973-44F3-AE0F-0E0657EEA533}"/>
              </a:ext>
            </a:extLst>
          </p:cNvPr>
          <p:cNvSpPr>
            <a:spLocks xmlns:a="http://schemas.openxmlformats.org/drawingml/2006/main" noGrp="1"/>
          </p:cNvSpPr>
          <p:nvPr/>
        </p:nvSpPr>
        <p:spPr>
          <a:xfrm xmlns:a="http://schemas.openxmlformats.org/drawingml/2006/main">
            <a:off x="609600" y="594360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59686B"/>
                </a:solidFill>
                <a:latin typeface="Helvetica Neue"/>
                <a:ea typeface="Helvetica Neue"/>
                <a:cs typeface="Helvetica Neue"/>
              </a:defRPr>
            </a:pPr>
            <a:r>
              <a:rPr sz="1875" b="0">
                <a:solidFill>
                  <a:srgbClr val="59686B"/>
                </a:solidFill>
                <a:latin typeface="Helvetica Neue"/>
                <a:ea typeface="Helvetica Neue"/>
                <a:cs typeface="Helvetica Neue"/>
              </a:rPr>
              <a:t>Перед выпуском: запуск из архива и общее решение по отчётам.</a:t>
            </a:r>
          </a:p>
        </p:txBody>
      </p:sp>
    </p:spTree>
    <p:extLst>
      <p:ext uri="{BB962C8B-B14F-4D97-AF65-F5344CB8AC3E}">
        <p14:creationId xmlns:p14="http://schemas.microsoft.com/office/powerpoint/2010/main" val="763208239"/>
      </p:ext>
    </p:extLst>
  </p:cSld>
</p:sld>
</file>

<file path=ppt/slides/slide7.xml><?xml version="1.0" encoding="utf-8"?>
<p:sld xmlns:p="http://schemas.openxmlformats.org/presentationml/2006/main">
  <p:cSld>
    <p:bg>
      <p:bgPr>
        <a:solidFill xmlns:a="http://schemas.openxmlformats.org/drawingml/2006/main">
          <a:srgbClr val="F7F6F1"/>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EA77BED-1E9A-412E-94AF-B9525FD214DE}"/>
              </a:ext>
            </a:extLst>
          </p:cNvPr>
          <p:cNvSpPr>
            <a:spLocks xmlns:a="http://schemas.openxmlformats.org/drawingml/2006/main" noGrp="1"/>
          </p:cNvSpPr>
          <p:nvPr/>
        </p:nvSpPr>
        <p:spPr>
          <a:xfrm xmlns:a="http://schemas.openxmlformats.org/drawingml/2006/main">
            <a:off x="609600" y="304800"/>
            <a:ext cx="10763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350" b="1">
                <a:solidFill>
                  <a:srgbClr val="26756C"/>
                </a:solidFill>
                <a:latin typeface="Helvetica Neue"/>
                <a:ea typeface="Helvetica Neue"/>
                <a:cs typeface="Helvetica Neue"/>
              </a:defRPr>
            </a:pPr>
            <a:r>
              <a:rPr sz="1350" b="1">
                <a:solidFill>
                  <a:srgbClr val="26756C"/>
                </a:solidFill>
                <a:latin typeface="Helvetica Neue"/>
                <a:ea typeface="Helvetica Neue"/>
                <a:cs typeface="Helvetica Neue"/>
              </a:rPr>
              <a:t>КОНЦЕПЦИЯ БЕЗОПАСНОЙ РАЗРАБОТКИ</a:t>
            </a:r>
          </a:p>
        </p:txBody>
      </p:sp>
      <p:sp>
        <p:nvSpPr>
          <p:cNvPr id="2" name="">
            <a:extLst xmlns:a="http://schemas.openxmlformats.org/drawingml/2006/main">
              <a:ext uri="{FF2B5EF4-FFF2-40B4-BE49-F238E27FC236}">
                <a16:creationId xmlns:a16="http://schemas.microsoft.com/office/drawing/2014/main" id="{4A763159-4B2B-4A5F-BE65-2C3873DE4364}"/>
              </a:ext>
            </a:extLst>
          </p:cNvPr>
          <p:cNvSpPr>
            <a:spLocks xmlns:a="http://schemas.openxmlformats.org/drawingml/2006/main" noGrp="1"/>
          </p:cNvSpPr>
          <p:nvPr/>
        </p:nvSpPr>
        <p:spPr>
          <a:xfrm xmlns:a="http://schemas.openxmlformats.org/drawingml/2006/main">
            <a:off x="609600" y="838200"/>
            <a:ext cx="109728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300" b="1">
                <a:solidFill>
                  <a:srgbClr val="102A30"/>
                </a:solidFill>
                <a:latin typeface="Helvetica Neue"/>
                <a:ea typeface="Helvetica Neue"/>
                <a:cs typeface="Helvetica Neue"/>
              </a:defRPr>
            </a:pPr>
            <a:r>
              <a:rPr sz="3300" b="1">
                <a:solidFill>
                  <a:srgbClr val="102A30"/>
                </a:solidFill>
                <a:latin typeface="Helvetica Neue"/>
                <a:ea typeface="Helvetica Neue"/>
                <a:cs typeface="Helvetica Neue"/>
              </a:rPr>
              <a:t>Что делает каждый участник</a:t>
            </a:r>
          </a:p>
        </p:txBody>
      </p:sp>
      <p:sp>
        <p:nvSpPr>
          <p:cNvPr id="3" name="">
            <a:extLst xmlns:a="http://schemas.openxmlformats.org/drawingml/2006/main">
              <a:ext uri="{FF2B5EF4-FFF2-40B4-BE49-F238E27FC236}">
                <a16:creationId xmlns:a16="http://schemas.microsoft.com/office/drawing/2014/main" id="{8D2D0351-E4D1-4F95-A8F7-769D9136646A}"/>
              </a:ext>
            </a:extLst>
          </p:cNvPr>
          <p:cNvSpPr>
            <a:spLocks xmlns:a="http://schemas.openxmlformats.org/drawingml/2006/main" noGrp="1"/>
          </p:cNvSpPr>
          <p:nvPr/>
        </p:nvSpPr>
        <p:spPr>
          <a:xfrm xmlns:a="http://schemas.openxmlformats.org/drawingml/2006/main">
            <a:off x="609600" y="6372225"/>
            <a:ext cx="10001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350" b="0">
                <a:solidFill>
                  <a:srgbClr val="59686B"/>
                </a:solidFill>
                <a:latin typeface="Helvetica Neue"/>
                <a:ea typeface="Helvetica Neue"/>
                <a:cs typeface="Helvetica Neue"/>
              </a:defRPr>
            </a:pPr>
            <a:r>
              <a:rPr sz="1350" b="0">
                <a:solidFill>
                  <a:srgbClr val="59686B"/>
                </a:solidFill>
                <a:latin typeface="Helvetica Neue"/>
                <a:ea typeface="Helvetica Neue"/>
                <a:cs typeface="Helvetica Neue"/>
              </a:rPr>
              <a:t>ЯвкаИБ / TaskFlow / ЭК1</a:t>
            </a:r>
          </a:p>
        </p:txBody>
      </p:sp>
      <p:sp>
        <p:nvSpPr>
          <p:cNvPr id="4" name="">
            <a:extLst xmlns:a="http://schemas.openxmlformats.org/drawingml/2006/main">
              <a:ext uri="{FF2B5EF4-FFF2-40B4-BE49-F238E27FC236}">
                <a16:creationId xmlns:a16="http://schemas.microsoft.com/office/drawing/2014/main" id="{457C1ED1-A387-4B37-BDDC-A361605C80F3}"/>
              </a:ext>
            </a:extLst>
          </p:cNvPr>
          <p:cNvSpPr>
            <a:spLocks xmlns:a="http://schemas.openxmlformats.org/drawingml/2006/main" noGrp="1"/>
          </p:cNvSpPr>
          <p:nvPr/>
        </p:nvSpPr>
        <p:spPr>
          <a:xfrm xmlns:a="http://schemas.openxmlformats.org/drawingml/2006/main">
            <a:off x="11029950" y="6324600"/>
            <a:ext cx="619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00" b="1">
                <a:solidFill>
                  <a:srgbClr val="26756C"/>
                </a:solidFill>
                <a:latin typeface="Helvetica Neue"/>
                <a:ea typeface="Helvetica Neue"/>
                <a:cs typeface="Helvetica Neue"/>
              </a:defRPr>
            </a:pPr>
            <a:r>
              <a:rPr sz="1800" b="1">
                <a:solidFill>
                  <a:srgbClr val="26756C"/>
                </a:solidFill>
                <a:latin typeface="Helvetica Neue"/>
                <a:ea typeface="Helvetica Neue"/>
                <a:cs typeface="Helvetica Neue"/>
              </a:rPr>
              <a:t>07</a:t>
            </a:r>
          </a:p>
        </p:txBody>
      </p:sp>
      <p:sp>
        <p:nvSpPr>
          <p:cNvPr id="9" name="">
            <a:extLst xmlns:a="http://schemas.openxmlformats.org/drawingml/2006/main">
              <a:ext uri="{FF2B5EF4-FFF2-40B4-BE49-F238E27FC236}">
                <a16:creationId xmlns:a16="http://schemas.microsoft.com/office/drawing/2014/main" id="{608E8E3E-A544-4FE5-B1A3-EDCDF8F83F72}"/>
              </a:ext>
            </a:extLst>
          </p:cNvPr>
          <p:cNvSpPr>
            <a:spLocks xmlns:a="http://schemas.openxmlformats.org/drawingml/2006/main" noGrp="1"/>
          </p:cNvSpPr>
          <p:nvPr/>
        </p:nvSpPr>
        <p:spPr>
          <a:xfrm xmlns:a="http://schemas.openxmlformats.org/drawingml/2006/main">
            <a:off x="609600" y="2009775"/>
            <a:ext cx="509587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26756C"/>
                </a:solidFill>
                <a:latin typeface="Helvetica Neue"/>
                <a:ea typeface="Helvetica Neue"/>
                <a:cs typeface="Helvetica Neue"/>
              </a:defRPr>
            </a:pPr>
            <a:r>
              <a:rPr sz="2550" b="1">
                <a:solidFill>
                  <a:srgbClr val="26756C"/>
                </a:solidFill>
                <a:latin typeface="Helvetica Neue"/>
                <a:ea typeface="Helvetica Neue"/>
                <a:cs typeface="Helvetica Neue"/>
              </a:rPr>
              <a:t>Роман / Issue #1</a:t>
            </a:r>
          </a:p>
        </p:txBody>
      </p:sp>
      <p:sp>
        <p:nvSpPr>
          <p:cNvPr id="10" name="">
            <a:extLst xmlns:a="http://schemas.openxmlformats.org/drawingml/2006/main">
              <a:ext uri="{FF2B5EF4-FFF2-40B4-BE49-F238E27FC236}">
                <a16:creationId xmlns:a16="http://schemas.microsoft.com/office/drawing/2014/main" id="{7A336C38-F9AF-4585-A5A1-A87103A5E579}"/>
              </a:ext>
            </a:extLst>
          </p:cNvPr>
          <p:cNvSpPr>
            <a:spLocks xmlns:a="http://schemas.openxmlformats.org/drawingml/2006/main" noGrp="1"/>
          </p:cNvSpPr>
          <p:nvPr/>
        </p:nvSpPr>
        <p:spPr>
          <a:xfrm xmlns:a="http://schemas.openxmlformats.org/drawingml/2006/main">
            <a:off x="609600" y="2724150"/>
            <a:ext cx="5143500"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02A30"/>
                </a:solidFill>
                <a:latin typeface="Helvetica Neue"/>
                <a:ea typeface="Helvetica Neue"/>
                <a:cs typeface="Helvetica Neue"/>
              </a:defRPr>
            </a:pPr>
            <a:r>
              <a:rPr sz="2100" b="0">
                <a:solidFill>
                  <a:srgbClr val="102A30"/>
                </a:solidFill>
                <a:latin typeface="Helvetica Neue"/>
                <a:ea typeface="Helvetica Neue"/>
                <a:cs typeface="Helvetica Neue"/>
              </a:rPr>
              <a:t>Проверяет права трёх ролей</a:t>
            </a:r>
          </a:p>
          <a:p xmlns:a="http://schemas.openxmlformats.org/drawingml/2006/main">
            <a:pPr>
              <a:defRPr sz="2100" b="0">
                <a:solidFill>
                  <a:srgbClr val="102A30"/>
                </a:solidFill>
                <a:latin typeface="Helvetica Neue"/>
                <a:ea typeface="Helvetica Neue"/>
                <a:cs typeface="Helvetica Neue"/>
              </a:defRPr>
            </a:pPr>
            <a:r>
              <a:rPr sz="2100" b="0">
                <a:solidFill>
                  <a:srgbClr val="102A30"/>
                </a:solidFill>
                <a:latin typeface="Helvetica Neue"/>
                <a:ea typeface="Helvetica Neue"/>
                <a:cs typeface="Helvetica Neue"/>
              </a:rPr>
              <a:t>и изоляцию проектов.</a:t>
            </a:r>
          </a:p>
          <a:p xmlns:a="http://schemas.openxmlformats.org/drawingml/2006/main">
            <a:r>
              <a:t/>
            </a:r>
          </a:p>
          <a:p xmlns:a="http://schemas.openxmlformats.org/drawingml/2006/main">
            <a:pPr>
              <a:defRPr sz="2100" b="0">
                <a:solidFill>
                  <a:srgbClr val="102A30"/>
                </a:solidFill>
                <a:latin typeface="Helvetica Neue"/>
                <a:ea typeface="Helvetica Neue"/>
                <a:cs typeface="Helvetica Neue"/>
              </a:defRPr>
            </a:pPr>
            <a:r>
              <a:rPr sz="2100" b="0">
                <a:solidFill>
                  <a:srgbClr val="102A30"/>
                </a:solidFill>
                <a:latin typeface="Helvetica Neue"/>
                <a:ea typeface="Helvetica Neue"/>
                <a:cs typeface="Helvetica Neue"/>
              </a:rPr>
              <a:t>Проверяет библиотеки</a:t>
            </a:r>
          </a:p>
          <a:p xmlns:a="http://schemas.openxmlformats.org/drawingml/2006/main">
            <a:pPr>
              <a:defRPr sz="2100" b="0">
                <a:solidFill>
                  <a:srgbClr val="102A30"/>
                </a:solidFill>
                <a:latin typeface="Helvetica Neue"/>
                <a:ea typeface="Helvetica Neue"/>
                <a:cs typeface="Helvetica Neue"/>
              </a:defRPr>
            </a:pPr>
            <a:r>
              <a:rPr sz="2100" b="0">
                <a:solidFill>
                  <a:srgbClr val="102A30"/>
                </a:solidFill>
                <a:latin typeface="Helvetica Neue"/>
                <a:ea typeface="Helvetica Neue"/>
                <a:cs typeface="Helvetica Neue"/>
              </a:rPr>
              <a:t>и настройки приложения.</a:t>
            </a:r>
          </a:p>
        </p:txBody>
      </p:sp>
      <p:sp>
        <p:nvSpPr>
          <p:cNvPr id="11" name="">
            <a:extLst xmlns:a="http://schemas.openxmlformats.org/drawingml/2006/main">
              <a:ext uri="{FF2B5EF4-FFF2-40B4-BE49-F238E27FC236}">
                <a16:creationId xmlns:a16="http://schemas.microsoft.com/office/drawing/2014/main" id="{EE97B6B7-67DC-48C3-8CA4-54B161BB877F}"/>
              </a:ext>
            </a:extLst>
          </p:cNvPr>
          <p:cNvSpPr>
            <a:spLocks xmlns:a="http://schemas.openxmlformats.org/drawingml/2006/main" noGrp="1"/>
          </p:cNvSpPr>
          <p:nvPr/>
        </p:nvSpPr>
        <p:spPr>
          <a:xfrm xmlns:a="http://schemas.openxmlformats.org/drawingml/2006/main">
            <a:off x="6419850" y="2009775"/>
            <a:ext cx="51435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26756C"/>
                </a:solidFill>
                <a:latin typeface="Helvetica Neue"/>
                <a:ea typeface="Helvetica Neue"/>
                <a:cs typeface="Helvetica Neue"/>
              </a:defRPr>
            </a:pPr>
            <a:r>
              <a:rPr sz="2550" b="1">
                <a:solidFill>
                  <a:srgbClr val="26756C"/>
                </a:solidFill>
                <a:latin typeface="Helvetica Neue"/>
                <a:ea typeface="Helvetica Neue"/>
                <a:cs typeface="Helvetica Neue"/>
              </a:rPr>
              <a:t>Ярослав / Issue #2</a:t>
            </a:r>
          </a:p>
        </p:txBody>
      </p:sp>
      <p:sp>
        <p:nvSpPr>
          <p:cNvPr id="12" name="">
            <a:extLst xmlns:a="http://schemas.openxmlformats.org/drawingml/2006/main">
              <a:ext uri="{FF2B5EF4-FFF2-40B4-BE49-F238E27FC236}">
                <a16:creationId xmlns:a16="http://schemas.microsoft.com/office/drawing/2014/main" id="{6F935AD2-0E1C-4FBE-B97B-EC48D93685C2}"/>
              </a:ext>
            </a:extLst>
          </p:cNvPr>
          <p:cNvSpPr>
            <a:spLocks xmlns:a="http://schemas.openxmlformats.org/drawingml/2006/main" noGrp="1"/>
          </p:cNvSpPr>
          <p:nvPr/>
        </p:nvSpPr>
        <p:spPr>
          <a:xfrm xmlns:a="http://schemas.openxmlformats.org/drawingml/2006/main">
            <a:off x="6419850" y="2724150"/>
            <a:ext cx="5143500"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02A30"/>
                </a:solidFill>
                <a:latin typeface="Helvetica Neue"/>
                <a:ea typeface="Helvetica Neue"/>
                <a:cs typeface="Helvetica Neue"/>
              </a:defRPr>
            </a:pPr>
            <a:r>
              <a:rPr sz="2100" b="0">
                <a:solidFill>
                  <a:srgbClr val="102A30"/>
                </a:solidFill>
                <a:latin typeface="Helvetica Neue"/>
                <a:ea typeface="Helvetica Neue"/>
                <a:cs typeface="Helvetica Neue"/>
              </a:rPr>
              <a:t>Проверяет ввод текста</a:t>
            </a:r>
          </a:p>
          <a:p xmlns:a="http://schemas.openxmlformats.org/drawingml/2006/main">
            <a:pPr>
              <a:defRPr sz="2100" b="0">
                <a:solidFill>
                  <a:srgbClr val="102A30"/>
                </a:solidFill>
                <a:latin typeface="Helvetica Neue"/>
                <a:ea typeface="Helvetica Neue"/>
                <a:cs typeface="Helvetica Neue"/>
              </a:defRPr>
            </a:pPr>
            <a:r>
              <a:rPr sz="2100" b="0">
                <a:solidFill>
                  <a:srgbClr val="102A30"/>
                </a:solidFill>
                <a:latin typeface="Helvetica Neue"/>
                <a:ea typeface="Helvetica Neue"/>
                <a:cs typeface="Helvetica Neue"/>
              </a:rPr>
              <a:t>и защиту запросов от подделки.</a:t>
            </a:r>
          </a:p>
          <a:p xmlns:a="http://schemas.openxmlformats.org/drawingml/2006/main">
            <a:r>
              <a:t/>
            </a:r>
          </a:p>
          <a:p xmlns:a="http://schemas.openxmlformats.org/drawingml/2006/main">
            <a:pPr>
              <a:defRPr sz="2100" b="0">
                <a:solidFill>
                  <a:srgbClr val="102A30"/>
                </a:solidFill>
                <a:latin typeface="Helvetica Neue"/>
                <a:ea typeface="Helvetica Neue"/>
                <a:cs typeface="Helvetica Neue"/>
              </a:defRPr>
            </a:pPr>
            <a:r>
              <a:rPr sz="2100" b="0">
                <a:solidFill>
                  <a:srgbClr val="102A30"/>
                </a:solidFill>
                <a:latin typeface="Helvetica Neue"/>
                <a:ea typeface="Helvetica Neue"/>
                <a:cs typeface="Helvetica Neue"/>
              </a:rPr>
              <a:t>Повторяет установку</a:t>
            </a:r>
          </a:p>
          <a:p xmlns:a="http://schemas.openxmlformats.org/drawingml/2006/main">
            <a:pPr>
              <a:defRPr sz="2100" b="0">
                <a:solidFill>
                  <a:srgbClr val="102A30"/>
                </a:solidFill>
                <a:latin typeface="Helvetica Neue"/>
                <a:ea typeface="Helvetica Neue"/>
                <a:cs typeface="Helvetica Neue"/>
              </a:defRPr>
            </a:pPr>
            <a:r>
              <a:rPr sz="2100" b="0">
                <a:solidFill>
                  <a:srgbClr val="102A30"/>
                </a:solidFill>
                <a:latin typeface="Helvetica Neue"/>
                <a:ea typeface="Helvetica Neue"/>
                <a:cs typeface="Helvetica Neue"/>
              </a:rPr>
              <a:t>из архива на чистом окружении.</a:t>
            </a:r>
          </a:p>
        </p:txBody>
      </p:sp>
      <p:sp>
        <p:nvSpPr>
          <p:cNvPr id="13" name="">
            <a:extLst xmlns:a="http://schemas.openxmlformats.org/drawingml/2006/main">
              <a:ext uri="{FF2B5EF4-FFF2-40B4-BE49-F238E27FC236}">
                <a16:creationId xmlns:a16="http://schemas.microsoft.com/office/drawing/2014/main" id="{A7E17ABD-3AA4-4B0B-B4F3-817BAB58B23C}"/>
              </a:ext>
            </a:extLst>
          </p:cNvPr>
          <p:cNvSpPr>
            <a:spLocks xmlns:a="http://schemas.openxmlformats.org/drawingml/2006/main" noGrp="1"/>
          </p:cNvSpPr>
          <p:nvPr/>
        </p:nvSpPr>
        <p:spPr>
          <a:xfrm xmlns:a="http://schemas.openxmlformats.org/drawingml/2006/main">
            <a:off x="609600" y="518160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6756C"/>
                </a:solidFill>
                <a:latin typeface="Helvetica Neue"/>
                <a:ea typeface="Helvetica Neue"/>
                <a:cs typeface="Helvetica Neue"/>
              </a:defRPr>
            </a:pPr>
            <a:r>
              <a:rPr sz="2250" b="1">
                <a:solidFill>
                  <a:srgbClr val="26756C"/>
                </a:solidFill>
                <a:latin typeface="Helvetica Neue"/>
                <a:ea typeface="Helvetica Neue"/>
                <a:cs typeface="Helvetica Neue"/>
              </a:rPr>
              <a:t>Каждый сохраняет отчёт и проверяет результат партнёра.</a:t>
            </a:r>
          </a:p>
        </p:txBody>
      </p:sp>
      <p:sp>
        <p:nvSpPr>
          <p:cNvPr id="14" name="">
            <a:extLst xmlns:a="http://schemas.openxmlformats.org/drawingml/2006/main">
              <a:ext uri="{FF2B5EF4-FFF2-40B4-BE49-F238E27FC236}">
                <a16:creationId xmlns:a16="http://schemas.microsoft.com/office/drawing/2014/main" id="{49267C2F-5D98-4E1B-86F5-A6365AC37E03}"/>
              </a:ext>
            </a:extLst>
          </p:cNvPr>
          <p:cNvSpPr>
            <a:spLocks xmlns:a="http://schemas.openxmlformats.org/drawingml/2006/main" noGrp="1"/>
          </p:cNvSpPr>
          <p:nvPr/>
        </p:nvSpPr>
        <p:spPr>
          <a:xfrm xmlns:a="http://schemas.openxmlformats.org/drawingml/2006/main">
            <a:off x="609600" y="59150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59686B"/>
                </a:solidFill>
                <a:latin typeface="Helvetica Neue"/>
                <a:ea typeface="Helvetica Neue"/>
                <a:cs typeface="Helvetica Neue"/>
              </a:defRPr>
            </a:pPr>
            <a:r>
              <a:rPr sz="1875" b="0">
                <a:solidFill>
                  <a:srgbClr val="59686B"/>
                </a:solidFill>
                <a:latin typeface="Helvetica Neue"/>
                <a:ea typeface="Helvetica Neue"/>
                <a:cs typeface="Helvetica Neue"/>
              </a:rPr>
              <a:t>После взаимной проверки созваниваемся и обсуждаем результаты.</a:t>
            </a:r>
          </a:p>
        </p:txBody>
      </p:sp>
    </p:spTree>
    <p:extLst>
      <p:ext uri="{BB962C8B-B14F-4D97-AF65-F5344CB8AC3E}">
        <p14:creationId xmlns:p14="http://schemas.microsoft.com/office/powerpoint/2010/main" val="1993845445"/>
      </p:ext>
    </p:extLst>
  </p:cSld>
</p:sld>
</file>

<file path=ppt/slides/slide8.xml><?xml version="1.0" encoding="utf-8"?>
<p:sld xmlns:p="http://schemas.openxmlformats.org/presentationml/2006/main">
  <p:cSld>
    <p:bg>
      <p:bgPr>
        <a:solidFill xmlns:a="http://schemas.openxmlformats.org/drawingml/2006/main">
          <a:srgbClr val="F7F6F1"/>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AF886ED6-BDFE-48A6-98B9-433AE990CBA9}"/>
              </a:ext>
            </a:extLst>
          </p:cNvPr>
          <p:cNvSpPr>
            <a:spLocks xmlns:a="http://schemas.openxmlformats.org/drawingml/2006/main" noGrp="1"/>
          </p:cNvSpPr>
          <p:nvPr/>
        </p:nvSpPr>
        <p:spPr>
          <a:xfrm xmlns:a="http://schemas.openxmlformats.org/drawingml/2006/main">
            <a:off x="609600" y="304800"/>
            <a:ext cx="10763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350" b="1">
                <a:solidFill>
                  <a:srgbClr val="26756C"/>
                </a:solidFill>
                <a:latin typeface="Helvetica Neue"/>
                <a:ea typeface="Helvetica Neue"/>
                <a:cs typeface="Helvetica Neue"/>
              </a:defRPr>
            </a:pPr>
            <a:r>
              <a:rPr sz="1350" b="1">
                <a:solidFill>
                  <a:srgbClr val="26756C"/>
                </a:solidFill>
                <a:latin typeface="Helvetica Neue"/>
                <a:ea typeface="Helvetica Neue"/>
                <a:cs typeface="Helvetica Neue"/>
              </a:rPr>
              <a:t>ПРИЛОЖЕНИЕ / ДЛЯ ВОПРОСОВ</a:t>
            </a:r>
          </a:p>
        </p:txBody>
      </p:sp>
      <p:sp>
        <p:nvSpPr>
          <p:cNvPr id="2" name="">
            <a:extLst xmlns:a="http://schemas.openxmlformats.org/drawingml/2006/main">
              <a:ext uri="{FF2B5EF4-FFF2-40B4-BE49-F238E27FC236}">
                <a16:creationId xmlns:a16="http://schemas.microsoft.com/office/drawing/2014/main" id="{E406CD5F-ECAB-4536-B31D-15A74C28D6D6}"/>
              </a:ext>
            </a:extLst>
          </p:cNvPr>
          <p:cNvSpPr>
            <a:spLocks xmlns:a="http://schemas.openxmlformats.org/drawingml/2006/main" noGrp="1"/>
          </p:cNvSpPr>
          <p:nvPr/>
        </p:nvSpPr>
        <p:spPr>
          <a:xfrm xmlns:a="http://schemas.openxmlformats.org/drawingml/2006/main">
            <a:off x="609600" y="838200"/>
            <a:ext cx="109728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300" b="1">
                <a:solidFill>
                  <a:srgbClr val="102A30"/>
                </a:solidFill>
                <a:latin typeface="Helvetica Neue"/>
                <a:ea typeface="Helvetica Neue"/>
                <a:cs typeface="Helvetica Neue"/>
              </a:defRPr>
            </a:pPr>
            <a:r>
              <a:rPr sz="3300" b="1">
                <a:solidFill>
                  <a:srgbClr val="102A30"/>
                </a:solidFill>
                <a:latin typeface="Helvetica Neue"/>
                <a:ea typeface="Helvetica Neue"/>
                <a:cs typeface="Helvetica Neue"/>
              </a:rPr>
              <a:t>Другие источники из лекций</a:t>
            </a:r>
          </a:p>
        </p:txBody>
      </p:sp>
      <p:sp>
        <p:nvSpPr>
          <p:cNvPr id="3" name="">
            <a:extLst xmlns:a="http://schemas.openxmlformats.org/drawingml/2006/main">
              <a:ext uri="{FF2B5EF4-FFF2-40B4-BE49-F238E27FC236}">
                <a16:creationId xmlns:a16="http://schemas.microsoft.com/office/drawing/2014/main" id="{2247638A-5B28-4A13-BA18-C1210C16A40F}"/>
              </a:ext>
            </a:extLst>
          </p:cNvPr>
          <p:cNvSpPr>
            <a:spLocks xmlns:a="http://schemas.openxmlformats.org/drawingml/2006/main" noGrp="1"/>
          </p:cNvSpPr>
          <p:nvPr/>
        </p:nvSpPr>
        <p:spPr>
          <a:xfrm xmlns:a="http://schemas.openxmlformats.org/drawingml/2006/main">
            <a:off x="609600" y="6372225"/>
            <a:ext cx="10001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350" b="0">
                <a:solidFill>
                  <a:srgbClr val="59686B"/>
                </a:solidFill>
                <a:latin typeface="Helvetica Neue"/>
                <a:ea typeface="Helvetica Neue"/>
                <a:cs typeface="Helvetica Neue"/>
              </a:defRPr>
            </a:pPr>
            <a:r>
              <a:rPr sz="1350" b="0">
                <a:solidFill>
                  <a:srgbClr val="59686B"/>
                </a:solidFill>
                <a:latin typeface="Helvetica Neue"/>
                <a:ea typeface="Helvetica Neue"/>
                <a:cs typeface="Helvetica Neue"/>
              </a:rPr>
              <a:t>ЯвкаИБ / TaskFlow / ЭК1</a:t>
            </a:r>
          </a:p>
        </p:txBody>
      </p:sp>
      <p:sp>
        <p:nvSpPr>
          <p:cNvPr id="4" name="">
            <a:extLst xmlns:a="http://schemas.openxmlformats.org/drawingml/2006/main">
              <a:ext uri="{FF2B5EF4-FFF2-40B4-BE49-F238E27FC236}">
                <a16:creationId xmlns:a16="http://schemas.microsoft.com/office/drawing/2014/main" id="{8DC3F3C9-9753-422C-84F6-3AED8A53B3BF}"/>
              </a:ext>
            </a:extLst>
          </p:cNvPr>
          <p:cNvSpPr>
            <a:spLocks xmlns:a="http://schemas.openxmlformats.org/drawingml/2006/main" noGrp="1"/>
          </p:cNvSpPr>
          <p:nvPr/>
        </p:nvSpPr>
        <p:spPr>
          <a:xfrm xmlns:a="http://schemas.openxmlformats.org/drawingml/2006/main">
            <a:off x="11029950" y="6324600"/>
            <a:ext cx="619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00" b="1">
                <a:solidFill>
                  <a:srgbClr val="26756C"/>
                </a:solidFill>
                <a:latin typeface="Helvetica Neue"/>
                <a:ea typeface="Helvetica Neue"/>
                <a:cs typeface="Helvetica Neue"/>
              </a:defRPr>
            </a:pPr>
            <a:r>
              <a:rPr sz="1800" b="1">
                <a:solidFill>
                  <a:srgbClr val="26756C"/>
                </a:solidFill>
                <a:latin typeface="Helvetica Neue"/>
                <a:ea typeface="Helvetica Neue"/>
                <a:cs typeface="Helvetica Neue"/>
              </a:rPr>
              <a:t>08</a:t>
            </a:r>
          </a:p>
        </p:txBody>
      </p:sp>
      <p:graphicFrame>
        <p:nvGraphicFramePr>
          <p:cNvPr id="12" name=""/>
          <p:cNvGraphicFramePr/>
          <p:nvPr/>
        </p:nvGraphicFramePr>
        <p:xfrm>
          <a:off xmlns:a="http://schemas.openxmlformats.org/drawingml/2006/main" x="609600" y="2028825"/>
          <a:ext xmlns:a="http://schemas.openxmlformats.org/drawingml/2006/main" cx="10972800" cy="3857625"/>
        </p:xfrm>
        <a:graphic xmlns:a="http://schemas.openxmlformats.org/drawingml/2006/main">
          <a:graphicData uri="http://schemas.openxmlformats.org/drawingml/2006/table">
            <a:tbl>
              <a:tblPr/>
              <a:tblGrid>
                <a:gridCol w="2190750"/>
                <a:gridCol w="3810000"/>
                <a:gridCol w="4972050"/>
              </a:tblGrid>
              <a:tr h="542925">
                <a:tc>
                  <a:txBody>
                    <a:bodyPr>
                      <a:noAutofit/>
                    </a:bodyPr>
                    <a:lstStyle/>
                    <a:p>
                      <a:r>
                        <a:rPr sz="1875" b="1">
                          <a:solidFill>
                            <a:srgbClr val="FFFFFF"/>
                          </a:solidFill>
                          <a:latin typeface="Helvetica Neue"/>
                          <a:ea typeface="Helvetica Neue"/>
                          <a:cs typeface="Helvetica Neue"/>
                        </a:rPr>
                        <a:t>Источник</a:t>
                      </a:r>
                    </a:p>
                  </a:txBody>
                  <a:tcPr marL="91440" marR="91440" marT="45720" marB="45720">
                    <a:solidFill>
                      <a:srgbClr val="102A30"/>
                    </a:solidFill>
                  </a:tcPr>
                </a:tc>
                <a:tc>
                  <a:txBody>
                    <a:bodyPr>
                      <a:noAutofit/>
                    </a:bodyPr>
                    <a:lstStyle/>
                    <a:p>
                      <a:r>
                        <a:rPr sz="1875" b="1">
                          <a:solidFill>
                            <a:srgbClr val="FFFFFF"/>
                          </a:solidFill>
                          <a:latin typeface="Helvetica Neue"/>
                          <a:ea typeface="Helvetica Neue"/>
                          <a:cs typeface="Helvetica Neue"/>
                        </a:rPr>
                        <a:t>Зачем рассмотрели</a:t>
                      </a:r>
                    </a:p>
                  </a:txBody>
                  <a:tcPr marL="91440" marR="91440" marT="45720" marB="45720">
                    <a:solidFill>
                      <a:srgbClr val="102A30"/>
                    </a:solidFill>
                  </a:tcPr>
                </a:tc>
                <a:tc>
                  <a:txBody>
                    <a:bodyPr>
                      <a:noAutofit/>
                    </a:bodyPr>
                    <a:lstStyle/>
                    <a:p>
                      <a:r>
                        <a:rPr sz="1875" b="1">
                          <a:solidFill>
                            <a:srgbClr val="FFFFFF"/>
                          </a:solidFill>
                          <a:latin typeface="Helvetica Neue"/>
                          <a:ea typeface="Helvetica Neue"/>
                          <a:cs typeface="Helvetica Neue"/>
                        </a:rPr>
                        <a:t>Почему не взяли за основу</a:t>
                      </a:r>
                    </a:p>
                  </a:txBody>
                  <a:tcPr marL="91440" marR="91440" marT="45720" marB="45720">
                    <a:solidFill>
                      <a:srgbClr val="102A30"/>
                    </a:solidFill>
                  </a:tcPr>
                </a:tc>
              </a:tr>
              <a:tr h="1104900">
                <a:tc>
                  <a:txBody>
                    <a:bodyPr>
                      <a:noAutofit/>
                    </a:bodyPr>
                    <a:lstStyle/>
                    <a:p>
                      <a:r>
                        <a:rPr sz="1875" b="0">
                          <a:solidFill>
                            <a:srgbClr val="102A30"/>
                          </a:solidFill>
                          <a:latin typeface="Helvetica Neue"/>
                          <a:ea typeface="Helvetica Neue"/>
                          <a:cs typeface="Helvetica Neue"/>
                        </a:rPr>
                        <a:t>ISO/IEC</a:t>
                      </a:r>
                    </a:p>
                    <a:p>
                      <a:r>
                        <a:rPr sz="1875" b="0">
                          <a:solidFill>
                            <a:srgbClr val="102A30"/>
                          </a:solidFill>
                          <a:latin typeface="Helvetica Neue"/>
                          <a:ea typeface="Helvetica Neue"/>
                          <a:cs typeface="Helvetica Neue"/>
                        </a:rPr>
                        <a:t>27034-1</a:t>
                      </a:r>
                    </a:p>
                  </a:txBody>
                  <a:tcPr marL="91440" marR="91440" marT="45720" marB="45720">
                    <a:solidFill>
                      <a:srgbClr val="FFFFFF"/>
                    </a:solidFill>
                  </a:tcPr>
                </a:tc>
                <a:tc>
                  <a:txBody>
                    <a:bodyPr>
                      <a:noAutofit/>
                    </a:bodyPr>
                    <a:lstStyle/>
                    <a:p>
                      <a:r>
                        <a:rPr sz="1875" b="0">
                          <a:solidFill>
                            <a:srgbClr val="102A30"/>
                          </a:solidFill>
                          <a:latin typeface="Helvetica Neue"/>
                          <a:ea typeface="Helvetica Neue"/>
                          <a:cs typeface="Helvetica Neue"/>
                        </a:rPr>
                        <a:t>Управление безопасностью</a:t>
                      </a:r>
                    </a:p>
                    <a:p>
                      <a:r>
                        <a:rPr sz="1875" b="0">
                          <a:solidFill>
                            <a:srgbClr val="102A30"/>
                          </a:solidFill>
                          <a:latin typeface="Helvetica Neue"/>
                          <a:ea typeface="Helvetica Neue"/>
                          <a:cs typeface="Helvetica Neue"/>
                        </a:rPr>
                        <a:t>приложений в организации</a:t>
                      </a:r>
                    </a:p>
                  </a:txBody>
                  <a:tcPr marL="91440" marR="91440" marT="45720" marB="45720">
                    <a:solidFill>
                      <a:srgbClr val="FFFFFF"/>
                    </a:solidFill>
                  </a:tcPr>
                </a:tc>
                <a:tc>
                  <a:txBody>
                    <a:bodyPr>
                      <a:noAutofit/>
                    </a:bodyPr>
                    <a:lstStyle/>
                    <a:p>
                      <a:r>
                        <a:rPr sz="1875" b="0">
                          <a:solidFill>
                            <a:srgbClr val="102A30"/>
                          </a:solidFill>
                          <a:latin typeface="Helvetica Neue"/>
                          <a:ea typeface="Helvetica Neue"/>
                          <a:cs typeface="Helvetica Neue"/>
                        </a:rPr>
                        <a:t>В нашей паре нет отдельной</a:t>
                      </a:r>
                    </a:p>
                    <a:p>
                      <a:r>
                        <a:rPr sz="1875" b="0">
                          <a:solidFill>
                            <a:srgbClr val="102A30"/>
                          </a:solidFill>
                          <a:latin typeface="Helvetica Neue"/>
                          <a:ea typeface="Helvetica Neue"/>
                          <a:cs typeface="Helvetica Neue"/>
                        </a:rPr>
                        <a:t>задачи управления безопасностью</a:t>
                      </a:r>
                    </a:p>
                    <a:p>
                      <a:r>
                        <a:rPr sz="1875" b="0">
                          <a:solidFill>
                            <a:srgbClr val="102A30"/>
                          </a:solidFill>
                          <a:latin typeface="Helvetica Neue"/>
                          <a:ea typeface="Helvetica Neue"/>
                          <a:cs typeface="Helvetica Neue"/>
                        </a:rPr>
                        <a:t>на уровне организации.</a:t>
                      </a:r>
                    </a:p>
                  </a:txBody>
                  <a:tcPr marL="91440" marR="91440" marT="45720" marB="45720">
                    <a:solidFill>
                      <a:srgbClr val="FFFFFF"/>
                    </a:solidFill>
                  </a:tcPr>
                </a:tc>
              </a:tr>
              <a:tr h="1104900">
                <a:tc>
                  <a:txBody>
                    <a:bodyPr>
                      <a:noAutofit/>
                    </a:bodyPr>
                    <a:lstStyle/>
                    <a:p>
                      <a:r>
                        <a:rPr sz="1875" b="0">
                          <a:solidFill>
                            <a:srgbClr val="102A30"/>
                          </a:solidFill>
                          <a:latin typeface="Helvetica Neue"/>
                          <a:ea typeface="Helvetica Neue"/>
                          <a:cs typeface="Helvetica Neue"/>
                        </a:rPr>
                        <a:t>IEC</a:t>
                      </a:r>
                    </a:p>
                    <a:p>
                      <a:r>
                        <a:rPr sz="1875" b="0">
                          <a:solidFill>
                            <a:srgbClr val="102A30"/>
                          </a:solidFill>
                          <a:latin typeface="Helvetica Neue"/>
                          <a:ea typeface="Helvetica Neue"/>
                          <a:cs typeface="Helvetica Neue"/>
                        </a:rPr>
                        <a:t>62443-4-1</a:t>
                      </a:r>
                    </a:p>
                  </a:txBody>
                  <a:tcPr marL="91440" marR="91440" marT="45720" marB="45720">
                    <a:solidFill>
                      <a:srgbClr val="F7F6F1"/>
                    </a:solidFill>
                  </a:tcPr>
                </a:tc>
                <a:tc>
                  <a:txBody>
                    <a:bodyPr>
                      <a:noAutofit/>
                    </a:bodyPr>
                    <a:lstStyle/>
                    <a:p>
                      <a:r>
                        <a:rPr sz="1875" b="0">
                          <a:solidFill>
                            <a:srgbClr val="102A30"/>
                          </a:solidFill>
                          <a:latin typeface="Helvetica Neue"/>
                          <a:ea typeface="Helvetica Neue"/>
                          <a:cs typeface="Helvetica Neue"/>
                        </a:rPr>
                        <a:t>Безопасная разработка</a:t>
                      </a:r>
                    </a:p>
                    <a:p>
                      <a:r>
                        <a:rPr sz="1875" b="0">
                          <a:solidFill>
                            <a:srgbClr val="102A30"/>
                          </a:solidFill>
                          <a:latin typeface="Helvetica Neue"/>
                          <a:ea typeface="Helvetica Neue"/>
                          <a:cs typeface="Helvetica Neue"/>
                        </a:rPr>
                        <a:t>промышленных продуктов</a:t>
                      </a:r>
                    </a:p>
                  </a:txBody>
                  <a:tcPr marL="91440" marR="91440" marT="45720" marB="45720">
                    <a:solidFill>
                      <a:srgbClr val="F7F6F1"/>
                    </a:solidFill>
                  </a:tcPr>
                </a:tc>
                <a:tc>
                  <a:txBody>
                    <a:bodyPr>
                      <a:noAutofit/>
                    </a:bodyPr>
                    <a:lstStyle/>
                    <a:p>
                      <a:r>
                        <a:rPr sz="1875" b="0">
                          <a:solidFill>
                            <a:srgbClr val="102A30"/>
                          </a:solidFill>
                          <a:latin typeface="Helvetica Neue"/>
                          <a:ea typeface="Helvetica Neue"/>
                          <a:cs typeface="Helvetica Neue"/>
                        </a:rPr>
                        <a:t>TaskFlow не относится</a:t>
                      </a:r>
                    </a:p>
                    <a:p>
                      <a:r>
                        <a:rPr sz="1875" b="0">
                          <a:solidFill>
                            <a:srgbClr val="102A30"/>
                          </a:solidFill>
                          <a:latin typeface="Helvetica Neue"/>
                          <a:ea typeface="Helvetica Neue"/>
                          <a:cs typeface="Helvetica Neue"/>
                        </a:rPr>
                        <a:t>к промышленной автоматизации.</a:t>
                      </a:r>
                    </a:p>
                  </a:txBody>
                  <a:tcPr marL="91440" marR="91440" marT="45720" marB="45720">
                    <a:solidFill>
                      <a:srgbClr val="F7F6F1"/>
                    </a:solidFill>
                  </a:tcPr>
                </a:tc>
              </a:tr>
              <a:tr h="1104900">
                <a:tc>
                  <a:txBody>
                    <a:bodyPr>
                      <a:noAutofit/>
                    </a:bodyPr>
                    <a:lstStyle/>
                    <a:p>
                      <a:r>
                        <a:rPr sz="1875" b="0">
                          <a:solidFill>
                            <a:srgbClr val="102A30"/>
                          </a:solidFill>
                          <a:latin typeface="Helvetica Neue"/>
                          <a:ea typeface="Helvetica Neue"/>
                          <a:cs typeface="Helvetica Neue"/>
                        </a:rPr>
                        <a:t>BSIMM</a:t>
                      </a:r>
                    </a:p>
                  </a:txBody>
                  <a:tcPr marL="91440" marR="91440" marT="45720" marB="45720">
                    <a:solidFill>
                      <a:srgbClr val="FFFFFF"/>
                    </a:solidFill>
                  </a:tcPr>
                </a:tc>
                <a:tc>
                  <a:txBody>
                    <a:bodyPr>
                      <a:noAutofit/>
                    </a:bodyPr>
                    <a:lstStyle/>
                    <a:p>
                      <a:r>
                        <a:rPr sz="1875" b="0">
                          <a:solidFill>
                            <a:srgbClr val="102A30"/>
                          </a:solidFill>
                          <a:latin typeface="Helvetica Neue"/>
                          <a:ea typeface="Helvetica Neue"/>
                          <a:cs typeface="Helvetica Neue"/>
                        </a:rPr>
                        <a:t>Практики безопасности,</a:t>
                      </a:r>
                    </a:p>
                    <a:p>
                      <a:r>
                        <a:rPr sz="1875" b="0">
                          <a:solidFill>
                            <a:srgbClr val="102A30"/>
                          </a:solidFill>
                          <a:latin typeface="Helvetica Neue"/>
                          <a:ea typeface="Helvetica Neue"/>
                          <a:cs typeface="Helvetica Neue"/>
                        </a:rPr>
                        <a:t>наблюдаемые в организациях</a:t>
                      </a:r>
                    </a:p>
                  </a:txBody>
                  <a:tcPr marL="91440" marR="91440" marT="45720" marB="45720">
                    <a:solidFill>
                      <a:srgbClr val="FFFFFF"/>
                    </a:solidFill>
                  </a:tcPr>
                </a:tc>
                <a:tc>
                  <a:txBody>
                    <a:bodyPr>
                      <a:noAutofit/>
                    </a:bodyPr>
                    <a:lstStyle/>
                    <a:p>
                      <a:r>
                        <a:rPr sz="1875" b="0">
                          <a:solidFill>
                            <a:srgbClr val="102A30"/>
                          </a:solidFill>
                          <a:latin typeface="Helvetica Neue"/>
                          <a:ea typeface="Helvetica Neue"/>
                          <a:cs typeface="Helvetica Neue"/>
                        </a:rPr>
                        <a:t>Сравнение с другими</a:t>
                      </a:r>
                    </a:p>
                    <a:p>
                      <a:r>
                        <a:rPr sz="1875" b="0">
                          <a:solidFill>
                            <a:srgbClr val="102A30"/>
                          </a:solidFill>
                          <a:latin typeface="Helvetica Neue"/>
                          <a:ea typeface="Helvetica Neue"/>
                          <a:cs typeface="Helvetica Neue"/>
                        </a:rPr>
                        <a:t>организациями не является</a:t>
                      </a:r>
                    </a:p>
                    <a:p>
                      <a:r>
                        <a:rPr sz="1875" b="0">
                          <a:solidFill>
                            <a:srgbClr val="102A30"/>
                          </a:solidFill>
                          <a:latin typeface="Helvetica Neue"/>
                          <a:ea typeface="Helvetica Neue"/>
                          <a:cs typeface="Helvetica Neue"/>
                        </a:rPr>
                        <a:t>целью нашего проекта.</a:t>
                      </a:r>
                    </a:p>
                  </a:txBody>
                  <a:tcPr marL="91440" marR="91440" marT="45720" marB="45720">
                    <a:solidFill>
                      <a:srgbClr val="FFFFFF"/>
                    </a:solidFill>
                  </a:tcPr>
                </a:tc>
              </a:tr>
            </a:tbl>
          </a:graphicData>
        </a:graphic>
      </p:graphicFrame>
    </p:spTree>
    <p:extLst>
      <p:ext uri="{BB962C8B-B14F-4D97-AF65-F5344CB8AC3E}">
        <p14:creationId xmlns:p14="http://schemas.microsoft.com/office/powerpoint/2010/main" val="772052715"/>
      </p:ext>
    </p:extLst>
  </p:cSld>
</p:sld>
</file>

<file path=ppt/slides/slide9.xml><?xml version="1.0" encoding="utf-8"?>
<p:sld xmlns:p="http://schemas.openxmlformats.org/presentationml/2006/main">
  <p:cSld>
    <p:bg>
      <p:bgPr>
        <a:solidFill xmlns:a="http://schemas.openxmlformats.org/drawingml/2006/main">
          <a:srgbClr val="F7F6F1"/>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622F0CCC-116E-4D88-9958-A90C2F685021}"/>
              </a:ext>
            </a:extLst>
          </p:cNvPr>
          <p:cNvSpPr>
            <a:spLocks xmlns:a="http://schemas.openxmlformats.org/drawingml/2006/main" noGrp="1"/>
          </p:cNvSpPr>
          <p:nvPr/>
        </p:nvSpPr>
        <p:spPr>
          <a:xfrm xmlns:a="http://schemas.openxmlformats.org/drawingml/2006/main">
            <a:off x="609600" y="304800"/>
            <a:ext cx="10763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350" b="1">
                <a:solidFill>
                  <a:srgbClr val="26756C"/>
                </a:solidFill>
                <a:latin typeface="Helvetica Neue"/>
                <a:ea typeface="Helvetica Neue"/>
                <a:cs typeface="Helvetica Neue"/>
              </a:defRPr>
            </a:pPr>
            <a:r>
              <a:rPr sz="1350" b="1">
                <a:solidFill>
                  <a:srgbClr val="26756C"/>
                </a:solidFill>
                <a:latin typeface="Helvetica Neue"/>
                <a:ea typeface="Helvetica Neue"/>
                <a:cs typeface="Helvetica Neue"/>
              </a:rPr>
              <a:t>ПРИЛОЖЕНИЕ / ПРОЗРАЧНОСТЬ РАБОТЫ</a:t>
            </a:r>
          </a:p>
        </p:txBody>
      </p:sp>
      <p:sp>
        <p:nvSpPr>
          <p:cNvPr id="2" name="">
            <a:extLst xmlns:a="http://schemas.openxmlformats.org/drawingml/2006/main">
              <a:ext uri="{FF2B5EF4-FFF2-40B4-BE49-F238E27FC236}">
                <a16:creationId xmlns:a16="http://schemas.microsoft.com/office/drawing/2014/main" id="{72865F4E-DAE7-4F74-AEC8-D466710998E3}"/>
              </a:ext>
            </a:extLst>
          </p:cNvPr>
          <p:cNvSpPr>
            <a:spLocks xmlns:a="http://schemas.openxmlformats.org/drawingml/2006/main" noGrp="1"/>
          </p:cNvSpPr>
          <p:nvPr/>
        </p:nvSpPr>
        <p:spPr>
          <a:xfrm xmlns:a="http://schemas.openxmlformats.org/drawingml/2006/main">
            <a:off x="609600" y="838200"/>
            <a:ext cx="109728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300" b="1">
                <a:solidFill>
                  <a:srgbClr val="102A30"/>
                </a:solidFill>
                <a:latin typeface="Helvetica Neue"/>
                <a:ea typeface="Helvetica Neue"/>
                <a:cs typeface="Helvetica Neue"/>
              </a:defRPr>
            </a:pPr>
            <a:r>
              <a:rPr sz="3300" b="1">
                <a:solidFill>
                  <a:srgbClr val="102A30"/>
                </a:solidFill>
                <a:latin typeface="Helvetica Neue"/>
                <a:ea typeface="Helvetica Neue"/>
                <a:cs typeface="Helvetica Neue"/>
              </a:rPr>
              <a:t>Как использовали ИИ</a:t>
            </a:r>
          </a:p>
        </p:txBody>
      </p:sp>
      <p:sp>
        <p:nvSpPr>
          <p:cNvPr id="3" name="">
            <a:extLst xmlns:a="http://schemas.openxmlformats.org/drawingml/2006/main">
              <a:ext uri="{FF2B5EF4-FFF2-40B4-BE49-F238E27FC236}">
                <a16:creationId xmlns:a16="http://schemas.microsoft.com/office/drawing/2014/main" id="{1DF7F602-0837-4904-AF6C-5999735CB9D5}"/>
              </a:ext>
            </a:extLst>
          </p:cNvPr>
          <p:cNvSpPr>
            <a:spLocks xmlns:a="http://schemas.openxmlformats.org/drawingml/2006/main" noGrp="1"/>
          </p:cNvSpPr>
          <p:nvPr/>
        </p:nvSpPr>
        <p:spPr>
          <a:xfrm xmlns:a="http://schemas.openxmlformats.org/drawingml/2006/main">
            <a:off x="609600" y="6372225"/>
            <a:ext cx="10001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350" b="0">
                <a:solidFill>
                  <a:srgbClr val="59686B"/>
                </a:solidFill>
                <a:latin typeface="Helvetica Neue"/>
                <a:ea typeface="Helvetica Neue"/>
                <a:cs typeface="Helvetica Neue"/>
              </a:defRPr>
            </a:pPr>
            <a:r>
              <a:rPr sz="1350" b="0">
                <a:solidFill>
                  <a:srgbClr val="59686B"/>
                </a:solidFill>
                <a:latin typeface="Helvetica Neue"/>
                <a:ea typeface="Helvetica Neue"/>
                <a:cs typeface="Helvetica Neue"/>
              </a:rPr>
              <a:t>ЯвкаИБ / TaskFlow / ЭК1</a:t>
            </a:r>
          </a:p>
        </p:txBody>
      </p:sp>
      <p:sp>
        <p:nvSpPr>
          <p:cNvPr id="4" name="">
            <a:extLst xmlns:a="http://schemas.openxmlformats.org/drawingml/2006/main">
              <a:ext uri="{FF2B5EF4-FFF2-40B4-BE49-F238E27FC236}">
                <a16:creationId xmlns:a16="http://schemas.microsoft.com/office/drawing/2014/main" id="{CC23046C-B0AE-4EFD-86EC-DA9E63080AAA}"/>
              </a:ext>
            </a:extLst>
          </p:cNvPr>
          <p:cNvSpPr>
            <a:spLocks xmlns:a="http://schemas.openxmlformats.org/drawingml/2006/main" noGrp="1"/>
          </p:cNvSpPr>
          <p:nvPr/>
        </p:nvSpPr>
        <p:spPr>
          <a:xfrm xmlns:a="http://schemas.openxmlformats.org/drawingml/2006/main">
            <a:off x="11029950" y="6324600"/>
            <a:ext cx="619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00" b="1">
                <a:solidFill>
                  <a:srgbClr val="26756C"/>
                </a:solidFill>
                <a:latin typeface="Helvetica Neue"/>
                <a:ea typeface="Helvetica Neue"/>
                <a:cs typeface="Helvetica Neue"/>
              </a:defRPr>
            </a:pPr>
            <a:r>
              <a:rPr sz="1800" b="1">
                <a:solidFill>
                  <a:srgbClr val="26756C"/>
                </a:solidFill>
                <a:latin typeface="Helvetica Neue"/>
                <a:ea typeface="Helvetica Neue"/>
                <a:cs typeface="Helvetica Neue"/>
              </a:rPr>
              <a:t>09</a:t>
            </a:r>
          </a:p>
        </p:txBody>
      </p:sp>
      <p:sp>
        <p:nvSpPr>
          <p:cNvPr id="5" name="">
            <a:extLst xmlns:a="http://schemas.openxmlformats.org/drawingml/2006/main">
              <a:ext uri="{FF2B5EF4-FFF2-40B4-BE49-F238E27FC236}">
                <a16:creationId xmlns:a16="http://schemas.microsoft.com/office/drawing/2014/main" id="{D504CA15-385A-4F51-B3B9-FF2A451942CF}"/>
              </a:ext>
            </a:extLst>
          </p:cNvPr>
          <p:cNvSpPr>
            <a:spLocks xmlns:a="http://schemas.openxmlformats.org/drawingml/2006/main" noGrp="1"/>
          </p:cNvSpPr>
          <p:nvPr/>
        </p:nvSpPr>
        <p:spPr>
          <a:xfrm xmlns:a="http://schemas.openxmlformats.org/drawingml/2006/main">
            <a:off x="609600" y="191452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550" b="1">
                <a:solidFill>
                  <a:srgbClr val="26756C"/>
                </a:solidFill>
                <a:latin typeface="Helvetica Neue"/>
                <a:ea typeface="Helvetica Neue"/>
                <a:cs typeface="Helvetica Neue"/>
              </a:defRPr>
            </a:pPr>
            <a:r>
              <a:rPr sz="2550" b="1">
                <a:solidFill>
                  <a:srgbClr val="26756C"/>
                </a:solidFill>
                <a:latin typeface="Helvetica Neue"/>
                <a:ea typeface="Helvetica Neue"/>
                <a:cs typeface="Helvetica Neue"/>
              </a:rPr>
              <a:t>OpenAI Codex, семейство GPT-6</a:t>
            </a:r>
          </a:p>
        </p:txBody>
      </p:sp>
      <p:sp>
        <p:nvSpPr>
          <p:cNvPr id="6" name="">
            <a:extLst xmlns:a="http://schemas.openxmlformats.org/drawingml/2006/main">
              <a:ext uri="{FF2B5EF4-FFF2-40B4-BE49-F238E27FC236}">
                <a16:creationId xmlns:a16="http://schemas.microsoft.com/office/drawing/2014/main" id="{A3ED063D-9AED-464C-9A36-A949C280531C}"/>
              </a:ext>
            </a:extLst>
          </p:cNvPr>
          <p:cNvSpPr>
            <a:spLocks xmlns:a="http://schemas.openxmlformats.org/drawingml/2006/main" noGrp="1"/>
          </p:cNvSpPr>
          <p:nvPr/>
        </p:nvSpPr>
        <p:spPr>
          <a:xfrm xmlns:a="http://schemas.openxmlformats.org/drawingml/2006/main">
            <a:off x="609600" y="2638425"/>
            <a:ext cx="1097280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75" b="0">
                <a:solidFill>
                  <a:srgbClr val="102A30"/>
                </a:solidFill>
                <a:latin typeface="Helvetica Neue"/>
                <a:ea typeface="Helvetica Neue"/>
                <a:cs typeface="Helvetica Neue"/>
              </a:defRPr>
            </a:pPr>
            <a:r>
              <a:rPr sz="2175" b="0">
                <a:solidFill>
                  <a:srgbClr val="102A30"/>
                </a:solidFill>
                <a:latin typeface="Helvetica Neue"/>
                <a:ea typeface="Helvetica Neue"/>
                <a:cs typeface="Helvetica Neue"/>
              </a:rPr>
              <a:t>Помощь с текстом, кодом приложения, тестами и слайдами.</a:t>
            </a:r>
          </a:p>
          <a:p xmlns:a="http://schemas.openxmlformats.org/drawingml/2006/main">
            <a:pPr>
              <a:buNone/>
              <a:defRPr sz="2175" b="0">
                <a:solidFill>
                  <a:srgbClr val="102A30"/>
                </a:solidFill>
                <a:latin typeface="Helvetica Neue"/>
                <a:ea typeface="Helvetica Neue"/>
                <a:cs typeface="Helvetica Neue"/>
              </a:defRPr>
            </a:pPr>
            <a:r>
              <a:rPr sz="2175" b="0">
                <a:solidFill>
                  <a:srgbClr val="102A30"/>
                </a:solidFill>
                <a:latin typeface="Helvetica Neue"/>
                <a:ea typeface="Helvetica Neue"/>
                <a:cs typeface="Helvetica Neue"/>
              </a:rPr>
              <a:t>Предложения по методологии и плану проверок.</a:t>
            </a:r>
          </a:p>
          <a:p xmlns:a="http://schemas.openxmlformats.org/drawingml/2006/main">
            <a:pPr>
              <a:buNone/>
              <a:defRPr sz="2175" b="0">
                <a:solidFill>
                  <a:srgbClr val="102A30"/>
                </a:solidFill>
                <a:latin typeface="Helvetica Neue"/>
                <a:ea typeface="Helvetica Neue"/>
                <a:cs typeface="Helvetica Neue"/>
              </a:defRPr>
            </a:pPr>
            <a:r>
              <a:rPr sz="2175" b="0">
                <a:solidFill>
                  <a:srgbClr val="102A30"/>
                </a:solidFill>
                <a:latin typeface="Helvetica Neue"/>
                <a:ea typeface="Helvetica Neue"/>
                <a:cs typeface="Helvetica Neue"/>
              </a:rPr>
              <a:t>Обложка: иллюстрация OpenAI.</a:t>
            </a:r>
          </a:p>
        </p:txBody>
      </p:sp>
      <p:sp>
        <p:nvSpPr>
          <p:cNvPr id="7" name="">
            <a:extLst xmlns:a="http://schemas.openxmlformats.org/drawingml/2006/main">
              <a:ext uri="{FF2B5EF4-FFF2-40B4-BE49-F238E27FC236}">
                <a16:creationId xmlns:a16="http://schemas.microsoft.com/office/drawing/2014/main" id="{3C0AC0F2-2D89-4FC3-BBF1-7CF1B6E96596}"/>
              </a:ext>
            </a:extLst>
          </p:cNvPr>
          <p:cNvSpPr>
            <a:spLocks xmlns:a="http://schemas.openxmlformats.org/drawingml/2006/main" noGrp="1"/>
          </p:cNvSpPr>
          <p:nvPr/>
        </p:nvSpPr>
        <p:spPr>
          <a:xfrm xmlns:a="http://schemas.openxmlformats.org/drawingml/2006/main">
            <a:off x="609600" y="42481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550" b="1">
                <a:solidFill>
                  <a:srgbClr val="26756C"/>
                </a:solidFill>
                <a:latin typeface="Helvetica Neue"/>
                <a:ea typeface="Helvetica Neue"/>
                <a:cs typeface="Helvetica Neue"/>
              </a:defRPr>
            </a:pPr>
            <a:r>
              <a:rPr sz="2550" b="1">
                <a:solidFill>
                  <a:srgbClr val="26756C"/>
                </a:solidFill>
                <a:latin typeface="Helvetica Neue"/>
                <a:ea typeface="Helvetica Neue"/>
                <a:cs typeface="Helvetica Neue"/>
              </a:rPr>
              <a:t>Решения и ответственность</a:t>
            </a:r>
          </a:p>
        </p:txBody>
      </p:sp>
      <p:sp>
        <p:nvSpPr>
          <p:cNvPr id="8" name="">
            <a:extLst xmlns:a="http://schemas.openxmlformats.org/drawingml/2006/main">
              <a:ext uri="{FF2B5EF4-FFF2-40B4-BE49-F238E27FC236}">
                <a16:creationId xmlns:a16="http://schemas.microsoft.com/office/drawing/2014/main" id="{19A3B0A1-269D-4664-B376-DFF3A0312FA2}"/>
              </a:ext>
            </a:extLst>
          </p:cNvPr>
          <p:cNvSpPr>
            <a:spLocks xmlns:a="http://schemas.openxmlformats.org/drawingml/2006/main" noGrp="1"/>
          </p:cNvSpPr>
          <p:nvPr/>
        </p:nvSpPr>
        <p:spPr>
          <a:xfrm xmlns:a="http://schemas.openxmlformats.org/drawingml/2006/main">
            <a:off x="609600" y="4848225"/>
            <a:ext cx="10972800"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75" b="0">
                <a:solidFill>
                  <a:srgbClr val="102A30"/>
                </a:solidFill>
                <a:latin typeface="Helvetica Neue"/>
                <a:ea typeface="Helvetica Neue"/>
                <a:cs typeface="Helvetica Neue"/>
              </a:defRPr>
            </a:pPr>
            <a:r>
              <a:rPr sz="2175" b="0">
                <a:solidFill>
                  <a:srgbClr val="102A30"/>
                </a:solidFill>
                <a:latin typeface="Helvetica Neue"/>
                <a:ea typeface="Helvetica Neue"/>
                <a:cs typeface="Helvetica Neue"/>
              </a:rPr>
              <a:t>Участники выбирают решения и отвечают за них.</a:t>
            </a:r>
          </a:p>
          <a:p xmlns:a="http://schemas.openxmlformats.org/drawingml/2006/main">
            <a:pPr>
              <a:buNone/>
              <a:defRPr sz="2175" b="0">
                <a:solidFill>
                  <a:srgbClr val="102A30"/>
                </a:solidFill>
                <a:latin typeface="Helvetica Neue"/>
                <a:ea typeface="Helvetica Neue"/>
                <a:cs typeface="Helvetica Neue"/>
              </a:defRPr>
            </a:pPr>
            <a:r>
              <a:rPr sz="2175" b="0">
                <a:solidFill>
                  <a:srgbClr val="102A30"/>
                </a:solidFill>
                <a:latin typeface="Helvetica Neue"/>
                <a:ea typeface="Helvetica Neue"/>
                <a:cs typeface="Helvetica Neue"/>
              </a:rPr>
              <a:t>Код проверяет партнёр, выпуск одобряют оба участника.</a:t>
            </a:r>
          </a:p>
        </p:txBody>
      </p:sp>
      <p:sp>
        <p:nvSpPr>
          <p:cNvPr id="9" name="">
            <a:extLst xmlns:a="http://schemas.openxmlformats.org/drawingml/2006/main">
              <a:ext uri="{FF2B5EF4-FFF2-40B4-BE49-F238E27FC236}">
                <a16:creationId xmlns:a16="http://schemas.microsoft.com/office/drawing/2014/main" id="{82BC12BE-3D22-4570-9720-82EAFD4E0739}"/>
              </a:ext>
            </a:extLst>
          </p:cNvPr>
          <p:cNvSpPr>
            <a:spLocks xmlns:a="http://schemas.openxmlformats.org/drawingml/2006/main" noGrp="1"/>
          </p:cNvSpPr>
          <p:nvPr/>
        </p:nvSpPr>
        <p:spPr>
          <a:xfrm xmlns:a="http://schemas.openxmlformats.org/drawingml/2006/main">
            <a:off x="609600" y="59055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00" b="0">
                <a:solidFill>
                  <a:srgbClr val="59686B"/>
                </a:solidFill>
                <a:latin typeface="Helvetica Neue"/>
                <a:ea typeface="Helvetica Neue"/>
                <a:cs typeface="Helvetica Neue"/>
              </a:defRPr>
            </a:pPr>
            <a:r>
              <a:rPr sz="1800" b="0">
                <a:solidFill>
                  <a:srgbClr val="59686B"/>
                </a:solidFill>
                <a:latin typeface="Helvetica Neue"/>
                <a:ea typeface="Helvetica Neue"/>
                <a:cs typeface="Helvetica Neue"/>
              </a:rPr>
              <a:t>Данные: материалы курса, учебный код и вымышленные примеры.</a:t>
            </a:r>
          </a:p>
        </p:txBody>
      </p:sp>
    </p:spTree>
    <p:extLst>
      <p:ext uri="{BB962C8B-B14F-4D97-AF65-F5344CB8AC3E}">
        <p14:creationId xmlns:p14="http://schemas.microsoft.com/office/powerpoint/2010/main" val="198276079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2026-10-05T15:16:10.1060000Z</dcterms:created>
  <dcterms:modified xsi:type="dcterms:W3CDTF">2026-10-05T15:16:10.1060000Z</dcterms:modified>
</coreProperties>
</file>