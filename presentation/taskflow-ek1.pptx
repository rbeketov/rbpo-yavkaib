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5fb53a1c21b41d0" /><Relationship Type="http://schemas.openxmlformats.org/officeDocument/2006/relationships/extended-properties" Target="/docProps/app.xml" Id="Rc81c047209844bc1" /><Relationship Type="http://schemas.openxmlformats.org/officeDocument/2006/relationships/officeDocument" Target="/ppt/presentation.xml" Id="Ra38a13a25b2b4aa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7f0282807184a22"/>
  </p:sldMasterIdLst>
  <p:notesMasterIdLst>
    <p:notesMasterId xmlns:r="http://schemas.openxmlformats.org/officeDocument/2006/relationships" r:id="Ra31c55d44baa4b1e"/>
  </p:notesMasterIdLst>
  <p:sldIdLst>
    <p:sldId xmlns:r="http://schemas.openxmlformats.org/officeDocument/2006/relationships" id="256" r:id="R88d475ab05c34349"/>
    <p:sldId xmlns:r="http://schemas.openxmlformats.org/officeDocument/2006/relationships" id="257" r:id="R6fa87d75782e4b4d"/>
    <p:sldId xmlns:r="http://schemas.openxmlformats.org/officeDocument/2006/relationships" id="258" r:id="Reb54495f9d714661"/>
    <p:sldId xmlns:r="http://schemas.openxmlformats.org/officeDocument/2006/relationships" id="259" r:id="Rd12fb16f725e4ac7"/>
    <p:sldId xmlns:r="http://schemas.openxmlformats.org/officeDocument/2006/relationships" id="260" r:id="Rc65dd73efa0b4a5c"/>
    <p:sldId xmlns:r="http://schemas.openxmlformats.org/officeDocument/2006/relationships" id="261" r:id="Re795814e2f774ce4"/>
    <p:sldId xmlns:r="http://schemas.openxmlformats.org/officeDocument/2006/relationships" id="262" r:id="R3f9a9f25083146f7"/>
    <p:sldId xmlns:r="http://schemas.openxmlformats.org/officeDocument/2006/relationships" id="263" r:id="Rb3dcbf1a53da4b8d"/>
    <p:sldId xmlns:r="http://schemas.openxmlformats.org/officeDocument/2006/relationships" id="264" r:id="R56cf156a48644b7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108a08391da4585" /><Relationship Type="http://schemas.openxmlformats.org/officeDocument/2006/relationships/slideMaster" Target="/ppt/slideMasters/slideMaster1.xml" Id="Rf7f0282807184a22" /><Relationship Type="http://schemas.openxmlformats.org/officeDocument/2006/relationships/notesMaster" Target="/ppt/notesMasters/notesMaster1.xml" Id="Ra31c55d44baa4b1e" /><Relationship Type="http://schemas.openxmlformats.org/officeDocument/2006/relationships/presProps" Target="/ppt/presProps.xml" Id="R21015e43499d4d0b" /><Relationship Type="http://schemas.openxmlformats.org/officeDocument/2006/relationships/tableStyles" Target="/ppt/tableStyles.xml" Id="R47c516db6c0b475c" /><Relationship Type="http://schemas.openxmlformats.org/officeDocument/2006/relationships/slide" Target="/ppt/slides/slide1.xml" Id="R88d475ab05c34349" /><Relationship Type="http://schemas.openxmlformats.org/officeDocument/2006/relationships/slide" Target="/ppt/slides/slide2.xml" Id="R6fa87d75782e4b4d" /><Relationship Type="http://schemas.openxmlformats.org/officeDocument/2006/relationships/slide" Target="/ppt/slides/slide3.xml" Id="Reb54495f9d714661" /><Relationship Type="http://schemas.openxmlformats.org/officeDocument/2006/relationships/slide" Target="/ppt/slides/slide4.xml" Id="Rd12fb16f725e4ac7" /><Relationship Type="http://schemas.openxmlformats.org/officeDocument/2006/relationships/slide" Target="/ppt/slides/slide5.xml" Id="Rc65dd73efa0b4a5c" /><Relationship Type="http://schemas.openxmlformats.org/officeDocument/2006/relationships/slide" Target="/ppt/slides/slide6.xml" Id="Re795814e2f774ce4" /><Relationship Type="http://schemas.openxmlformats.org/officeDocument/2006/relationships/slide" Target="/ppt/slides/slide7.xml" Id="R3f9a9f25083146f7" /><Relationship Type="http://schemas.openxmlformats.org/officeDocument/2006/relationships/slide" Target="/ppt/slides/slide8.xml" Id="Rb3dcbf1a53da4b8d" /><Relationship Type="http://schemas.openxmlformats.org/officeDocument/2006/relationships/slide" Target="/ppt/slides/slide9.xml" Id="R56cf156a48644b7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49a291cb665464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7f9eb09320b44f2" /><Relationship Type="http://schemas.openxmlformats.org/officeDocument/2006/relationships/notesMaster" Target="/ppt/notesMasters/notesMaster1.xml" Id="Rb87f70e66f98411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dc02b1f8dfe42d6" /><Relationship Type="http://schemas.openxmlformats.org/officeDocument/2006/relationships/notesMaster" Target="/ppt/notesMasters/notesMaster1.xml" Id="R7e47994ccfde4f6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d46dbbb645547b8" /><Relationship Type="http://schemas.openxmlformats.org/officeDocument/2006/relationships/notesMaster" Target="/ppt/notesMasters/notesMaster1.xml" Id="Ra929b28b214a406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1723716799446e7" /><Relationship Type="http://schemas.openxmlformats.org/officeDocument/2006/relationships/notesMaster" Target="/ppt/notesMasters/notesMaster1.xml" Id="Rfaa96854565f40c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b752bf414b64eea" /><Relationship Type="http://schemas.openxmlformats.org/officeDocument/2006/relationships/notesMaster" Target="/ppt/notesMasters/notesMaster1.xml" Id="R2f3a72a59936460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2108219123b4ee1" /><Relationship Type="http://schemas.openxmlformats.org/officeDocument/2006/relationships/notesMaster" Target="/ppt/notesMasters/notesMaster1.xml" Id="R19e4aa3df44b475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fd4b10dfd144b59" /><Relationship Type="http://schemas.openxmlformats.org/officeDocument/2006/relationships/notesMaster" Target="/ppt/notesMasters/notesMaster1.xml" Id="R14e1d19d415e414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00dbc56816f4a86" /><Relationship Type="http://schemas.openxmlformats.org/officeDocument/2006/relationships/notesMaster" Target="/ppt/notesMasters/notesMaster1.xml" Id="R5f8b843ba4804f6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8790e8afde54701" /><Relationship Type="http://schemas.openxmlformats.org/officeDocument/2006/relationships/notesMaster" Target="/ppt/notesMasters/notesMaster1.xml" Id="Ra83114992ec74f5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Основная часть: 15 секунд.</a:t>
            </a:r>
          </a:p>
          <a:p xmlns:a="http://schemas.openxmlformats.org/drawingml/2006/main">
            <a:r>
              <a:t>Мы представляем TaskFlow — локальный трекер задач для учебной команды. Наша цель — связать конкретные права пользователей с проверками кода и понятными условиями выпуска. Покажем выбранную основу, реальный разрыв и план работы пары.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</a:t>
            </a:r>
          </a:p>
          <a:p xmlns:a="http://schemas.openxmlformats.org/drawingml/2006/main">
            <a:r>
              <a:t>https://github.com/rbeketov/rbpo-yavkaib/blob/main/project.md</a:t>
            </a:r>
          </a:p>
          <a:p xmlns:a="http://schemas.openxmlformats.org/drawingml/2006/main">
            <a:r>
              <a:t>https://github.com/hse-rbpo-master-2026/course/blob/5ce5fdf4ba4bb32ac62d1b9c6728f3a6d8fa6884/seminars/S06.md</a:t>
            </a:r>
          </a:p>
          <a:p xmlns:a="http://schemas.openxmlformats.org/drawingml/2006/main">
            <a:r>
              <a:t>Обложка: иллюстрация OpenAI ImageGen, создана для этой презентации.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Основная часть: 35 секунд.</a:t>
            </a:r>
          </a:p>
          <a:p xmlns:a="http://schemas.openxmlformats.org/drawingml/2006/main">
            <a:r>
              <a:t>Владелец управляет проектом, участниками и удалением. Редактор создаёт и меняет задачи, пишет комментарии. Наблюдатель только читает. Посторонний не видит чужой проект. Роль действует внутри проекта, поэтому один человек может иметь разные права в разных проектах. Проверяем Django и SQLite на localhost с синтетическими данными. Публичный хостинг, вложения и реальные данные в область не входят. Исследуем baseline-mvp, планируемый продуктовый выпуск — v1.0.0.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</a:t>
            </a:r>
          </a:p>
          <a:p xmlns:a="http://schemas.openxmlformats.org/drawingml/2006/main">
            <a:r>
              <a:t>https://github.com/rbeketov/rbpo-yavkaib/blob/main/project.md</a:t>
            </a:r>
          </a:p>
          <a:p xmlns:a="http://schemas.openxmlformats.org/drawingml/2006/main">
            <a:r>
              <a:t>https://github.com/rbeketov/rbpo-yavkaib/tree/baseline-mvp</a:t>
            </a:r>
          </a:p>
          <a:p xmlns:a="http://schemas.openxmlformats.org/drawingml/2006/main">
            <a:r>
              <a:t>https://github.com/rbeketov/rbpo-yavkaib/blob/main/evidence/ek1/taskflow-board.png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Основная часть: 45 секунд.</a:t>
            </a:r>
          </a:p>
          <a:p xmlns:a="http://schemas.openxmlformats.org/drawingml/2006/main">
            <a:r>
              <a:t>Мы выбрали вариант A: основная рамка SSDF 1.1, дополнительный источник ASVS 5.0.0. SSDF охватывает жизненный цикл и позволяет превратить семь положений в действия двух участников без отдельного отдела безопасности. Источник открыт. SAMM больше помогает оценивать и развивать устойчивые практики; у нашего проекта пока короткая история. ГОСТ также применим, но не даёт отдельного преимущества для выбранной учебной области. ASVS уточняет техническую часть веб-проверок. Мы не заявляем полное соответствие стандартам или уровень ASVS.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</a:t>
            </a:r>
          </a:p>
          <a:p xmlns:a="http://schemas.openxmlformats.org/drawingml/2006/main">
            <a:r>
              <a:t>https://csrc.nist.gov/pubs/sp/800/218/final</a:t>
            </a:r>
          </a:p>
          <a:p xmlns:a="http://schemas.openxmlformats.org/drawingml/2006/main">
            <a:r>
              <a:t>https://github.com/OWASP/ASVS/tree/v5.0.0</a:t>
            </a:r>
          </a:p>
          <a:p xmlns:a="http://schemas.openxmlformats.org/drawingml/2006/main">
            <a:r>
              <a:t>https://owaspsamm.org/model/</a:t>
            </a:r>
          </a:p>
          <a:p xmlns:a="http://schemas.openxmlformats.org/drawingml/2006/main">
            <a:r>
              <a:t>https://protect.gost.ru/gost/details/f3818925-a96f-4f55-96e9-46b44720ee64</a:t>
            </a:r>
          </a:p>
          <a:p xmlns:a="http://schemas.openxmlformats.org/drawingml/2006/main">
            <a:r>
              <a:t>https://github.com/hse-rbpo-master-2026/course/blob/5ce5fdf4ba4bb32ac62d1b9c6728f3a6d8fa6884/lectures/L03.pdf</a:t>
            </a:r>
          </a:p>
          <a:p xmlns:a="http://schemas.openxmlformats.org/drawingml/2006/main">
            <a:r>
              <a:t>https://github.com/rbeketov/rbpo-yavkaib/blob/main/docs/methodology-options.md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Основная часть: 35 секунд.</a:t>
            </a:r>
          </a:p>
          <a:p xmlns:a="http://schemas.openxmlformats.org/drawingml/2006/main">
            <a:r>
              <a:t>Пример адаптации SSDF — проверка работающего кода PW.8. Требование продукта: наблюдатель не меняет задачу. Роман отправляет запрос от viewer и допустимый запрос от editor. В первом случае должны быть отказ и неизменная база, во втором — разрешённое изменение. Ярослав независимо повторяет запрет и читает проверку прав. Сохраняем версию, условия и результат. Если поведение не соответствует требованию, изменение не включаем. Это наша адаптация SSDF к паре, а не дословное требование стандарта.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</a:t>
            </a:r>
          </a:p>
          <a:p xmlns:a="http://schemas.openxmlformats.org/drawingml/2006/main">
            <a:r>
              <a:t>https://csrc.nist.gov/pubs/sp/800/218/final</a:t>
            </a:r>
          </a:p>
          <a:p xmlns:a="http://schemas.openxmlformats.org/drawingml/2006/main">
            <a:r>
              <a:t>https://github.com/rbeketov/rbpo-yavkaib/blob/main/project.md</a:t>
            </a:r>
          </a:p>
          <a:p xmlns:a="http://schemas.openxmlformats.org/drawingml/2006/main">
            <a:r>
              <a:t>https://github.com/rbeketov/rbpo-yavkaib/blob/main/tracker/permissions.py</a:t>
            </a:r>
          </a:p>
          <a:p xmlns:a="http://schemas.openxmlformats.org/drawingml/2006/main">
            <a:r>
              <a:t>https://github.com/rbeketov/rbpo-yavkaib/blob/main/tracker/tests.py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Основная часть: 35 секунд.</a:t>
            </a:r>
          </a:p>
          <a:p xmlns:a="http://schemas.openxmlformats.org/drawingml/2006/main">
            <a:r>
              <a:t>В baseline прошли 27 тестов и пять инженерных проверок. Сохранены версии и хеши; код приложения с тех пор не изменялся. В срезе публичного API есть четыре успешных CI-запуска и ноль PR. Это не доказывает отсутствие устных обсуждений, но независимый review в репозитории не подтверждён. Поэтому G1 имеет высокий приоритет: код и тест могут содержать общую ошибку. Отдельные средние разрывы — отсутствие CVE-триажа и независимого запуска архива. Они ограничивают основание выпуска, но сами по себе не доказывают уязвимость.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</a:t>
            </a:r>
          </a:p>
          <a:p xmlns:a="http://schemas.openxmlformats.org/drawingml/2006/main">
            <a:r>
              <a:t>https://github.com/rbeketov/rbpo-yavkaib/blob/main/evidence/ek1/verification.json</a:t>
            </a:r>
          </a:p>
          <a:p xmlns:a="http://schemas.openxmlformats.org/drawingml/2006/main">
            <a:r>
              <a:t>https://github.com/rbeketov/rbpo-yavkaib/blob/main/evidence/ek1/repository-observation-selected.json</a:t>
            </a:r>
          </a:p>
          <a:p xmlns:a="http://schemas.openxmlformats.org/drawingml/2006/main">
            <a:r>
              <a:t>https://github.com/hse-rbpo-master-2026/course/blob/5ce5fdf4ba4bb32ac62d1b9c6728f3a6d8fa6884/lectures/L04.pdf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Основная часть: 40 секунд.</a:t>
            </a:r>
          </a:p>
          <a:p xmlns:a="http://schemas.openxmlformats.org/drawingml/2006/main">
            <a:r>
              <a:t>Перед реализацией автор фиксирует роль, объект и негативный сценарий. Перед merge должны пройти проверки, а другой участник читает код и повторяет существенный случай. Автор себя не одобряет, ИИ проверяющего не заменяет. Перед продуктовым выпуском Роман собирает результаты и архив, Ярослав воспроизводит установку, оба принимают решение. Без проверяющего, при нарушении прав или неразобранном существенном результате переход откладываем. Некритическое исключение оформляем со сроком до семи дней и согласием обоих. При споре сохраняем позиции, обращаемся к преподавателю и откладываем выпуск. Обязательность статуса GitHub технически не подтверждена, поэтому это правило пары.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</a:t>
            </a:r>
          </a:p>
          <a:p xmlns:a="http://schemas.openxmlformats.org/drawingml/2006/main">
            <a:r>
              <a:t>https://github.com/rbeketov/rbpo-yavkaib/blob/main/project.md</a:t>
            </a:r>
          </a:p>
          <a:p xmlns:a="http://schemas.openxmlformats.org/drawingml/2006/main">
            <a:r>
              <a:t>https://github.com/rbeketov/rbpo-yavkaib/blob/main/CONTRIBUTING.md</a:t>
            </a:r>
          </a:p>
          <a:p xmlns:a="http://schemas.openxmlformats.org/drawingml/2006/main">
            <a:r>
              <a:t>https://github.com/hse-rbpo-master-2026/course/blob/5ce5fdf4ba4bb32ac62d1b9c6728f3a6d8fa6884/lectures/L05.pdf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Основная часть: 35 секунд.</a:t>
            </a:r>
          </a:p>
          <a:p xmlns:a="http://schemas.openxmlformats.org/drawingml/2006/main">
            <a:r>
              <a:t>Роман ведёт проверки прав и изоляции, а также зависимостей и конфигурации. Ярослав ведёт ввод, вывод и CSRF, независимо устанавливает архив. Каждый проверяет существенный результат партнёра. Личные задания оформляем в GitHub Issues, отчёты и изменения — через PR. Затем обсуждаем факты на общем созвоне и выбираем улучшение по результатам. Для ЭК1 это предварительный технологический профиль: апробацию и окончательный набор средств уточняем после лекций шесть–восемь.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</a:t>
            </a:r>
          </a:p>
          <a:p xmlns:a="http://schemas.openxmlformats.org/drawingml/2006/main">
            <a:r>
              <a:t>https://github.com/rbeketov/rbpo-yavkaib/blob/main/docs/work-plan.md</a:t>
            </a:r>
          </a:p>
          <a:p xmlns:a="http://schemas.openxmlformats.org/drawingml/2006/main">
            <a:r>
              <a:t>https://github.com/rbeketov/rbpo-yavkaib/issues</a:t>
            </a:r>
          </a:p>
          <a:p xmlns:a="http://schemas.openxmlformats.org/drawingml/2006/main">
            <a:r>
              <a:t>https://github.com/hse-rbpo-master-2026/course/blob/5ce5fdf4ba4bb32ac62d1b9c6728f3a6d8fa6884/seminars/S06.md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Приложение для вопросов.</a:t>
            </a:r>
          </a:p>
          <a:p xmlns:a="http://schemas.openxmlformats.org/drawingml/2006/main">
            <a:r>
              <a:t>Это выборка задач SSDF, адаптированная к области проекта. Полная таблица применимости, действий, ролей и критериев находится в разделе два паспорта. Частичная применимость означает ограничения локального учебного продукта, а не выполненную сертификацию. ASVS является дополнительным источником для технических сценариев.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</a:t>
            </a:r>
          </a:p>
          <a:p xmlns:a="http://schemas.openxmlformats.org/drawingml/2006/main">
            <a:r>
              <a:t>https://csrc.nist.gov/pubs/sp/800/218/final</a:t>
            </a:r>
          </a:p>
          <a:p xmlns:a="http://schemas.openxmlformats.org/drawingml/2006/main">
            <a:r>
              <a:t>https://github.com/OWASP/ASVS/tree/v5.0.0</a:t>
            </a:r>
          </a:p>
          <a:p xmlns:a="http://schemas.openxmlformats.org/drawingml/2006/main">
            <a:r>
              <a:t>https://github.com/rbeketov/rbpo-yavkaib/blob/main/project.md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Приложение для вопросов.</a:t>
            </a:r>
          </a:p>
          <a:p xmlns:a="http://schemas.openxmlformats.org/drawingml/2006/main">
            <a:r>
              <a:t>Использовали Codex для автоматизации подготовки текстов, кода, тестов и оформления, а также для вариантов методологии и плана. Выбор TaskFlow и варианта A сделан участником команды. Ответственность за решения и их объяснение остаётся у участников. Проверки средствами Codex сохранены отдельно и не выдаются за независимое человеческое review. Источники — публичный курс и учебный проект, данные для приложения синтетические. Подробности в разделе двенадцать паспорта.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</a:t>
            </a:r>
          </a:p>
          <a:p xmlns:a="http://schemas.openxmlformats.org/drawingml/2006/main">
            <a:r>
              <a:t>https://github.com/rbeketov/rbpo-yavkaib/blob/main/project.md</a:t>
            </a:r>
          </a:p>
          <a:p xmlns:a="http://schemas.openxmlformats.org/drawingml/2006/main">
            <a:r>
              <a:t>https://github.com/hse-rbpo-master-2026/course/blob/5ce5fdf4ba4bb32ac62d1b9c6728f3a6d8fa6884/ai-usage.md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9dac75022c4c7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51e3d9a5aca40f3" /><Relationship Type="http://schemas.openxmlformats.org/officeDocument/2006/relationships/slideLayout" Target="/ppt/slideLayouts/slideLayout1.xml" Id="R105b5748b7dd45b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05b5748b7dd45b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d8b52dbfe04c76" /><Relationship Type="http://schemas.openxmlformats.org/officeDocument/2006/relationships/image" Target="/ppt/media/image.png" Id="R5b8ee9f25b5449b2" /><Relationship Type="http://schemas.openxmlformats.org/officeDocument/2006/relationships/notesSlide" Target="/ppt/notesSlides/notesSlide1.xml" Id="R274de7a91b004b9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35008f09d34e12" /><Relationship Type="http://schemas.openxmlformats.org/officeDocument/2006/relationships/image" Target="/ppt/media/image.jpeg" Id="Rb148d344015d472c" /><Relationship Type="http://schemas.openxmlformats.org/officeDocument/2006/relationships/notesSlide" Target="/ppt/notesSlides/notesSlide2.xml" Id="R4823bc9e573f4c9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3f2f39c704414d" /><Relationship Type="http://schemas.openxmlformats.org/officeDocument/2006/relationships/notesSlide" Target="/ppt/notesSlides/notesSlide3.xml" Id="R1a968b772d7f4c5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33576376cb47e7" /><Relationship Type="http://schemas.openxmlformats.org/officeDocument/2006/relationships/notesSlide" Target="/ppt/notesSlides/notesSlide4.xml" Id="Re64982221b534a4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52cc7c540149ca" /><Relationship Type="http://schemas.openxmlformats.org/officeDocument/2006/relationships/notesSlide" Target="/ppt/notesSlides/notesSlide5.xml" Id="R5c8648e2db5c40e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3d16c28804499f" /><Relationship Type="http://schemas.openxmlformats.org/officeDocument/2006/relationships/notesSlide" Target="/ppt/notesSlides/notesSlide6.xml" Id="R0f4cc0edcb424c5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2167dbef4c4bc2" /><Relationship Type="http://schemas.openxmlformats.org/officeDocument/2006/relationships/notesSlide" Target="/ppt/notesSlides/notesSlide7.xml" Id="R33f089096d64433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bfb141d317460c" /><Relationship Type="http://schemas.openxmlformats.org/officeDocument/2006/relationships/notesSlide" Target="/ppt/notesSlides/notesSlide8.xml" Id="Rb86036521b224cc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1c5ceaa43a4440" /><Relationship Type="http://schemas.openxmlformats.org/officeDocument/2006/relationships/notesSlide" Target="/ppt/notesSlides/notesSlide9.xml" Id="Rd03d3431c7234fa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8ee9f25b5449b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46760C-E993-4424-A36D-3170D6ED4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"/>
            <a:ext cx="7620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A9DBC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A9DBCB"/>
                </a:solidFill>
                <a:latin typeface="Helvetica Neue"/>
                <a:ea typeface="Helvetica Neue"/>
                <a:cs typeface="Helvetica Neue"/>
              </a:rPr>
              <a:t>ЯВКАИБ / РАЗРАБОТКА БЕЗОПАСНОГО ПО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9ADD4E-0479-424C-8B04-E04B1C68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6000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TaskFlow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AF9B92-B529-4E24-8377-C9A92517D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6000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F2F5F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0">
                <a:solidFill>
                  <a:srgbClr val="F2F5F0"/>
                </a:solidFill>
                <a:latin typeface="Helvetica Neue"/>
                <a:ea typeface="Helvetica Neue"/>
                <a:cs typeface="Helvetica Neue"/>
              </a:rPr>
              <a:t>Концепция безопасной</a:t>
            </a:r>
          </a:p>
          <a:p xmlns:a="http://schemas.openxmlformats.org/drawingml/2006/main">
            <a:pPr>
              <a:defRPr sz="2850" b="0">
                <a:solidFill>
                  <a:srgbClr val="F2F5F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0">
                <a:solidFill>
                  <a:srgbClr val="F2F5F0"/>
                </a:solidFill>
                <a:latin typeface="Helvetica Neue"/>
                <a:ea typeface="Helvetica Neue"/>
                <a:cs typeface="Helvetica Neue"/>
              </a:rPr>
              <a:t>разработки локального</a:t>
            </a:r>
          </a:p>
          <a:p xmlns:a="http://schemas.openxmlformats.org/drawingml/2006/main">
            <a:pPr>
              <a:defRPr sz="2850" b="0">
                <a:solidFill>
                  <a:srgbClr val="F2F5F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0">
                <a:solidFill>
                  <a:srgbClr val="F2F5F0"/>
                </a:solidFill>
                <a:latin typeface="Helvetica Neue"/>
                <a:ea typeface="Helvetica Neue"/>
                <a:cs typeface="Helvetica Neue"/>
              </a:rPr>
              <a:t>трекера задач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41B4E7-74A5-4CC1-BCF4-BE77AF09F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704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0ECE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0ECE7"/>
                </a:solidFill>
                <a:latin typeface="Helvetica Neue"/>
                <a:ea typeface="Helvetica Neue"/>
                <a:cs typeface="Helvetica Neue"/>
              </a:rPr>
              <a:t>Бекетов Роман Александрович</a:t>
            </a:r>
          </a:p>
          <a:p xmlns:a="http://schemas.openxmlformats.org/drawingml/2006/main">
            <a:pPr>
              <a:defRPr sz="1875" b="0">
                <a:solidFill>
                  <a:srgbClr val="E0ECE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0ECE7"/>
                </a:solidFill>
                <a:latin typeface="Helvetica Neue"/>
                <a:ea typeface="Helvetica Neue"/>
                <a:cs typeface="Helvetica Neue"/>
              </a:rPr>
              <a:t>Кузьмин Ярослав Артёмович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D81890-5C67-419E-8F98-319DB4BA0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9DBC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A9DBCB"/>
                </a:solidFill>
                <a:latin typeface="Helvetica Neue"/>
                <a:ea typeface="Helvetica Neue"/>
                <a:cs typeface="Helvetica Neue"/>
              </a:rPr>
              <a:t>ЭК1 / 2026</a:t>
            </a:r>
          </a:p>
        </p:txBody>
      </p:sp>
    </p:spTree>
    <p:extLst>
      <p:ext uri="{BB962C8B-B14F-4D97-AF65-F5344CB8AC3E}">
        <p14:creationId xmlns:p14="http://schemas.microsoft.com/office/powerpoint/2010/main" val="101240375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9D2F82-7021-41C6-AFE8-33FB3DCFD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1076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rPr>
              <a:t>КОНЦЕПЦИЯ БЕЗОПАСНОЙ РАЗРАБОТКИ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6EB9DD-F427-4B7C-AF58-BFF791573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Продукт и границы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6791B5-6D28-4EBC-BEA3-C041BE149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72225"/>
            <a:ext cx="1000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968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9686B"/>
                </a:solidFill>
                <a:latin typeface="Helvetica Neue"/>
                <a:ea typeface="Helvetica Neue"/>
                <a:cs typeface="Helvetica Neue"/>
              </a:rPr>
              <a:t>ЯвкаИБ / TaskFlow / ЭК1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7AB752-CD1B-445C-B128-8ADB482A7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24600"/>
            <a:ext cx="619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48d344015d472c"/>
          <a:stretch xmlns:a="http://schemas.openxmlformats.org/drawingml/2006/main"/>
        </p:blipFill>
        <p:spPr>
          <a:xfrm xmlns:a="http://schemas.openxmlformats.org/drawingml/2006/main">
            <a:off x="609600" y="2085975"/>
            <a:ext cx="6858000" cy="38576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D62C8C-C912-421B-801A-DB64D432F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09775"/>
            <a:ext cx="3667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rPr>
              <a:t>Владелец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0831E5-7616-4CF8-8171-6A438313C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409825"/>
            <a:ext cx="3667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Задачи, участники, удаление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8D38DE-6B9C-42C3-87EB-44D4C4C4D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143250"/>
            <a:ext cx="3667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rPr>
              <a:t>Редактор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0A714E-0660-4245-985A-820749D7F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543300"/>
            <a:ext cx="366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Задачи и комментарии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9A66B2-12F0-4C60-9FD9-D40777461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200525"/>
            <a:ext cx="3667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rPr>
              <a:t>Наблюдатель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ED353A-9C5E-4775-A2CF-880451660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600575"/>
            <a:ext cx="3667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Только чтение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132424-56B7-4A94-BC2E-B4BD2B55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238750"/>
            <a:ext cx="3667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968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9686B"/>
                </a:solidFill>
                <a:latin typeface="Helvetica Neue"/>
                <a:ea typeface="Helvetica Neue"/>
                <a:cs typeface="Helvetica Neue"/>
              </a:rPr>
              <a:t>Django + SQLite</a:t>
            </a:r>
          </a:p>
          <a:p xmlns:a="http://schemas.openxmlformats.org/drawingml/2006/main">
            <a:pPr>
              <a:defRPr sz="1725" b="0">
                <a:solidFill>
                  <a:srgbClr val="5968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9686B"/>
                </a:solidFill>
                <a:latin typeface="Helvetica Neue"/>
                <a:ea typeface="Helvetica Neue"/>
                <a:cs typeface="Helvetica Neue"/>
              </a:rPr>
              <a:t>localhost, синтетические данные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E1BC8B-F16B-489E-9F46-B8149F66B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905500"/>
            <a:ext cx="36671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968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9686B"/>
                </a:solidFill>
                <a:latin typeface="Helvetica Neue"/>
                <a:ea typeface="Helvetica Neue"/>
                <a:cs typeface="Helvetica Neue"/>
              </a:rPr>
              <a:t>baseline-mvp / цель v1.0.0</a:t>
            </a:r>
          </a:p>
        </p:txBody>
      </p:sp>
    </p:spTree>
    <p:extLst>
      <p:ext uri="{BB962C8B-B14F-4D97-AF65-F5344CB8AC3E}">
        <p14:creationId xmlns:p14="http://schemas.microsoft.com/office/powerpoint/2010/main" val="2206810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7218E9-1BDF-489F-805E-A7ED04E7C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1076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rPr>
              <a:t>КОНЦЕПЦИЯ БЕЗОПАСНОЙ РАЗРАБОТКИ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7C6168-BD79-4BB0-824A-EDE2FC2AC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Почему выбрали SSDF + ASVS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92B022-0060-4A10-8224-A10BB04F4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72225"/>
            <a:ext cx="1000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968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9686B"/>
                </a:solidFill>
                <a:latin typeface="Helvetica Neue"/>
                <a:ea typeface="Helvetica Neue"/>
                <a:cs typeface="Helvetica Neue"/>
              </a:rPr>
              <a:t>ЯвкаИБ / TaskFlow / ЭК1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E741BA-7E4D-4A77-A56E-CEF327834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24600"/>
            <a:ext cx="619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E9C80F-CB2E-4C90-9CAF-DDE05F6EA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rPr>
              <a:t>SSDF 1.1 задаёт процесс. ASVS 5.0.0 уточняет свойства веб-приложения.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2790825"/>
          <a:ext xmlns:a="http://schemas.openxmlformats.org/drawingml/2006/main" cx="10972800" cy="2552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81300"/>
                <a:gridCol w="4819650"/>
                <a:gridCol w="3371850"/>
              </a:tblGrid>
              <a:tr h="6381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Основа</a:t>
                      </a:r>
                    </a:p>
                  </a:txBody>
                  <a:tcPr marL="91440" marR="91440" marT="45720" marB="45720">
                    <a:solidFill>
                      <a:srgbClr val="102A3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Польза для TaskFlow</a:t>
                      </a:r>
                    </a:p>
                  </a:txBody>
                  <a:tcPr marL="91440" marR="91440" marT="45720" marB="45720">
                    <a:solidFill>
                      <a:srgbClr val="102A3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Решение</a:t>
                      </a:r>
                    </a:p>
                  </a:txBody>
                  <a:tcPr marL="91440" marR="91440" marT="45720" marB="45720">
                    <a:solidFill>
                      <a:srgbClr val="102A30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NIST SSDF 1.1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Требования, review, тесты, выпуск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Основная рамка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OWASP SAMM 2</a:t>
                      </a:r>
                    </a:p>
                  </a:txBody>
                  <a:tcPr marL="91440" marR="91440" marT="45720" marB="45720">
                    <a:solidFill>
                      <a:srgbClr val="F7F6F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Оценка устойчивости практик</a:t>
                      </a:r>
                    </a:p>
                  </a:txBody>
                  <a:tcPr marL="91440" marR="91440" marT="45720" marB="45720">
                    <a:solidFill>
                      <a:srgbClr val="F7F6F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Мало истории для оценки</a:t>
                      </a:r>
                    </a:p>
                  </a:txBody>
                  <a:tcPr marL="91440" marR="91440" marT="45720" marB="45720">
                    <a:solidFill>
                      <a:srgbClr val="F7F6F1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ГОСТ Р 56939-2024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Требования к работам разработки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Применимая альтернатива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4E6F0E-8655-43FF-974B-6E4533BEC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Семь правил для двух участников и открытый первоисточник.</a:t>
            </a:r>
          </a:p>
          <a:p xmlns:a="http://schemas.openxmlformats.org/drawingml/2006/main">
            <a:pPr>
              <a:defRPr sz="1875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ASVS дополняет технические проверки доступа, сессий и ввода.</a:t>
            </a:r>
          </a:p>
        </p:txBody>
      </p:sp>
    </p:spTree>
    <p:extLst>
      <p:ext uri="{BB962C8B-B14F-4D97-AF65-F5344CB8AC3E}">
        <p14:creationId xmlns:p14="http://schemas.microsoft.com/office/powerpoint/2010/main" val="150514913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236832-8B90-4562-9CD5-20B2209D0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1076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rPr>
              <a:t>КОНЦЕПЦИЯ БЕЗОПАСНОЙ РАЗРАБОТКИ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3E136D-6EA8-4350-B7A0-995FFCEF7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Одно правило в действии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27BBEA-07AF-4A9C-97C1-42144AAC6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72225"/>
            <a:ext cx="1000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968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9686B"/>
                </a:solidFill>
                <a:latin typeface="Helvetica Neue"/>
                <a:ea typeface="Helvetica Neue"/>
                <a:cs typeface="Helvetica Neue"/>
              </a:rPr>
              <a:t>ЯвкаИБ / TaskFlow / ЭК1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95B7F1-F785-4784-AAF1-38F88216D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24600"/>
            <a:ext cx="619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BFEF88-8900-49AA-857B-B98B094AF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rPr>
              <a:t>PW.8.1–8.2: проверка работающего кода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2476500"/>
          <a:ext xmlns:a="http://schemas.openxmlformats.org/drawingml/2006/main" cx="10972800" cy="31718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67000"/>
                <a:gridCol w="8305800"/>
              </a:tblGrid>
              <a:tr h="5286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Шаг</a:t>
                      </a:r>
                    </a:p>
                  </a:txBody>
                  <a:tcPr marL="91440" marR="91440" marT="45720" marB="45720">
                    <a:solidFill>
                      <a:srgbClr val="102A3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Пример для прав доступа</a:t>
                      </a:r>
                    </a:p>
                  </a:txBody>
                  <a:tcPr marL="91440" marR="91440" marT="45720" marB="45720">
                    <a:solidFill>
                      <a:srgbClr val="102A30"/>
                    </a:solidFill>
                  </a:tcPr>
                </a:tc>
              </a:tr>
              <a:tr h="5286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Требование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Наблюдатель не изменяет задачу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286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Действие Романа</a:t>
                      </a:r>
                    </a:p>
                  </a:txBody>
                  <a:tcPr marL="91440" marR="91440" marT="45720" marB="45720">
                    <a:solidFill>
                      <a:srgbClr val="F7F6F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POST от viewer и такой же POST от editor</a:t>
                      </a:r>
                    </a:p>
                  </a:txBody>
                  <a:tcPr marL="91440" marR="91440" marT="45720" marB="45720">
                    <a:solidFill>
                      <a:srgbClr val="F7F6F1"/>
                    </a:solidFill>
                  </a:tcPr>
                </a:tc>
              </a:tr>
              <a:tr h="5286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Результат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Viewer: отказ, БД без изменений. Editor: запись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286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Проверка Ярослава</a:t>
                      </a:r>
                    </a:p>
                  </a:txBody>
                  <a:tcPr marL="91440" marR="91440" marT="45720" marB="45720">
                    <a:solidFill>
                      <a:srgbClr val="F7F6F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Самостоятельно повторить запрет и прочитать код</a:t>
                      </a:r>
                    </a:p>
                  </a:txBody>
                  <a:tcPr marL="91440" marR="91440" marT="45720" marB="45720">
                    <a:solidFill>
                      <a:srgbClr val="F7F6F1"/>
                    </a:solidFill>
                  </a:tcPr>
                </a:tc>
              </a:tr>
              <a:tr h="5286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Решение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Несовпадение с требованием блокирует merge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883D5E-1612-4E94-8323-4D4E117E1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769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Сохраняем commit, условия, команду, фактический результат и review.</a:t>
            </a:r>
          </a:p>
        </p:txBody>
      </p:sp>
    </p:spTree>
    <p:extLst>
      <p:ext uri="{BB962C8B-B14F-4D97-AF65-F5344CB8AC3E}">
        <p14:creationId xmlns:p14="http://schemas.microsoft.com/office/powerpoint/2010/main" val="23135531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2CFE3C-CD5C-4122-B953-3F4FCBBE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1076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rPr>
              <a:t>КОНЦЕПЦИЯ БЕЗОПАСНОЙ РАЗРАБОТКИ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CE3952-3CCD-43AA-AC7B-7147A278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Текущее состояние и существенный разрыв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483CD4-91EB-4FB5-921C-78D64513F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72225"/>
            <a:ext cx="1000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968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9686B"/>
                </a:solidFill>
                <a:latin typeface="Helvetica Neue"/>
                <a:ea typeface="Helvetica Neue"/>
                <a:cs typeface="Helvetica Neue"/>
              </a:rPr>
              <a:t>ЯвкаИБ / TaskFlow / ЭК1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55EE69-5510-4909-9058-5F0204064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24600"/>
            <a:ext cx="619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48F4B4-8575-46C0-A782-EEE17DEB4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4238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95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495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rPr>
              <a:t>27 тестов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0DD727-F875-4A96-84D8-36442A5F0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438150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5 инженерных проверок прошли.</a:t>
            </a:r>
          </a:p>
          <a:p xmlns:a="http://schemas.openxmlformats.org/drawingml/2006/main">
            <a:pPr>
              <a:defRPr sz="210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Версии и хеши кода сохранены.</a:t>
            </a:r>
          </a:p>
          <a:p xmlns:a="http://schemas.openxmlformats.org/drawingml/2006/main">
            <a:pPr>
              <a:defRPr sz="210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Есть успешные запуски CI.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DD8E09-772E-46B6-BBD2-1A5FC025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076450"/>
            <a:ext cx="5981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G1: нет независимого review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FA0FA6-B78F-406A-B1B3-7D5645F89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143250"/>
            <a:ext cx="59817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Код и тесты могут повторять</a:t>
            </a:r>
          </a:p>
          <a:p xmlns:a="http://schemas.openxmlformats.org/drawingml/2006/main">
            <a:pPr>
              <a:defRPr sz="210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одну и ту же ошибку.</a:t>
            </a:r>
          </a:p>
          <a:p xmlns:a="http://schemas.openxmlformats.org/drawingml/2006/main">
            <a:pPr>
              <a:defRPr sz="210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В исследованной истории нет PR</a:t>
            </a:r>
          </a:p>
          <a:p xmlns:a="http://schemas.openxmlformats.org/drawingml/2006/main">
            <a:pPr>
              <a:defRPr sz="210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с проверкой вторым участником.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052799-A702-4358-A173-6C648B14F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rPr>
              <a:t>Приоритет: проверка прав партнёром перед включением изменений.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F29582-37BA-49FC-BB78-C6D14D9B3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968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9686B"/>
                </a:solidFill>
                <a:latin typeface="Helvetica Neue"/>
                <a:ea typeface="Helvetica Neue"/>
                <a:cs typeface="Helvetica Neue"/>
              </a:rPr>
              <a:t>G2: анализ CVE зависимостей. G3: независимый запуск из архива.</a:t>
            </a:r>
          </a:p>
        </p:txBody>
      </p:sp>
    </p:spTree>
    <p:extLst>
      <p:ext uri="{BB962C8B-B14F-4D97-AF65-F5344CB8AC3E}">
        <p14:creationId xmlns:p14="http://schemas.microsoft.com/office/powerpoint/2010/main" val="95049519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D12E6B-543E-40BB-8C37-F1BF5E1EC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1076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rPr>
              <a:t>КОНЦЕПЦИЯ БЕЗОПАСНОЙ РАЗРАБОТКИ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1F4FC4-EE0D-4131-97DB-64897854A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Контрольные точки и ответственность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06421F-B56C-4E3A-81AA-03E620BFA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72225"/>
            <a:ext cx="1000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968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9686B"/>
                </a:solidFill>
                <a:latin typeface="Helvetica Neue"/>
                <a:ea typeface="Helvetica Neue"/>
                <a:cs typeface="Helvetica Neue"/>
              </a:rPr>
              <a:t>ЯвкаИБ / TaskFlow / ЭК1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7D2BF9-671A-4A48-8268-793497F6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24600"/>
            <a:ext cx="619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2402D9-A02D-479A-B420-BE8D79175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50958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rPr>
              <a:t>Включение изменения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516324-16D2-406D-BFE4-239E5DAF2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5038725" cy="2276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Автор: ветка, изменение, тесты.</a:t>
            </a:r>
          </a:p>
          <a:p xmlns:a="http://schemas.openxmlformats.org/drawingml/2006/main">
            <a:pPr>
              <a:defRPr sz="210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Партнёр: чтение кода и повтор</a:t>
            </a:r>
          </a:p>
          <a:p xmlns:a="http://schemas.openxmlformats.org/drawingml/2006/main">
            <a:pPr>
              <a:defRPr sz="210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существенного сценария.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Основание: CI для commit</a:t>
            </a:r>
          </a:p>
          <a:p xmlns:a="http://schemas.openxmlformats.org/drawingml/2006/main">
            <a:pPr>
              <a:defRPr sz="210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и сохранённое review.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3396E6-D76B-4509-BF47-24CD09FF8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81200"/>
            <a:ext cx="5238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rPr>
              <a:t>Продуктовый выпуск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F8EF49-D7BD-4A62-9B1D-EC1E3D0AF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38425"/>
            <a:ext cx="5238750" cy="2276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Роман: зависимости и комплект.</a:t>
            </a:r>
          </a:p>
          <a:p xmlns:a="http://schemas.openxmlformats.org/drawingml/2006/main">
            <a:pPr>
              <a:defRPr sz="210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Ярослав: установка из архива.</a:t>
            </a:r>
          </a:p>
          <a:p xmlns:a="http://schemas.openxmlformats.org/drawingml/2006/main">
            <a:pPr>
              <a:defRPr sz="210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Оба: решение по результатам.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Основание: отчёты, триаж,</a:t>
            </a:r>
          </a:p>
          <a:p xmlns:a="http://schemas.openxmlformats.org/drawingml/2006/main">
            <a:pPr>
              <a:defRPr sz="210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commit, тег и SHA-256.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2F82F7-3D2E-4DFE-B106-2BE97AD6E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Без проверяющего или при нарушении прав откладываем переход.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533CA4-DD94-47F6-8BA5-4BF9CA847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968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9686B"/>
                </a:solidFill>
                <a:latin typeface="Helvetica Neue"/>
                <a:ea typeface="Helvetica Neue"/>
                <a:cs typeface="Helvetica Neue"/>
              </a:rPr>
              <a:t>Некритическое исключение: карточка, срок до 7 дней и согласие обоих.</a:t>
            </a:r>
          </a:p>
        </p:txBody>
      </p:sp>
    </p:spTree>
    <p:extLst>
      <p:ext uri="{BB962C8B-B14F-4D97-AF65-F5344CB8AC3E}">
        <p14:creationId xmlns:p14="http://schemas.microsoft.com/office/powerpoint/2010/main" val="76320823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A77BED-1E9A-412E-94AF-B9525FD2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1076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rPr>
              <a:t>КОНЦЕПЦИЯ БЕЗОПАСНОЙ РАЗРАБОТКИ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763159-4B2B-4A5F-BE65-2C3873DE4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План проверок Романа и Ярослава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2D0351-E4D1-4F95-A8F7-769D91366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72225"/>
            <a:ext cx="1000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968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9686B"/>
                </a:solidFill>
                <a:latin typeface="Helvetica Neue"/>
                <a:ea typeface="Helvetica Neue"/>
                <a:cs typeface="Helvetica Neue"/>
              </a:rPr>
              <a:t>ЯвкаИБ / TaskFlow / ЭК1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7C1ED1-A387-4B37-BDDC-A361605C8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24600"/>
            <a:ext cx="619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2057400"/>
          <a:ext xmlns:a="http://schemas.openxmlformats.org/drawingml/2006/main" cx="10972800" cy="29908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524250"/>
                <a:gridCol w="2190750"/>
                <a:gridCol w="5257800"/>
              </a:tblGrid>
              <a:tr h="7477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Метод</a:t>
                      </a:r>
                    </a:p>
                  </a:txBody>
                  <a:tcPr marL="91440" marR="91440" marT="45720" marB="45720">
                    <a:solidFill>
                      <a:srgbClr val="102A3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Исполнитель</a:t>
                      </a:r>
                    </a:p>
                  </a:txBody>
                  <a:tcPr marL="91440" marR="91440" marT="45720" marB="45720">
                    <a:solidFill>
                      <a:srgbClr val="102A3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Проверяющий и свидетельство</a:t>
                      </a:r>
                    </a:p>
                  </a:txBody>
                  <a:tcPr marL="91440" marR="91440" marT="45720" marB="45720">
                    <a:solidFill>
                      <a:srgbClr val="102A30"/>
                    </a:solidFill>
                  </a:tcPr>
                </a:tc>
              </a:tr>
              <a:tr h="7477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М1: права и изоляция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Роман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Ярослав: повтор запрета, матрица и review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477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М2: ввод и CSRF</a:t>
                      </a:r>
                    </a:p>
                  </a:txBody>
                  <a:tcPr marL="91440" marR="91440" marT="45720" marB="45720">
                    <a:solidFill>
                      <a:srgbClr val="F7F6F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Ярослав</a:t>
                      </a:r>
                    </a:p>
                  </a:txBody>
                  <a:tcPr marL="91440" marR="91440" marT="45720" marB="45720">
                    <a:solidFill>
                      <a:srgbClr val="F7F6F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Роман: POST и экранирование, отчёт и review</a:t>
                      </a:r>
                    </a:p>
                  </a:txBody>
                  <a:tcPr marL="91440" marR="91440" marT="45720" marB="45720">
                    <a:solidFill>
                      <a:srgbClr val="F7F6F1"/>
                    </a:solidFill>
                  </a:tcPr>
                </a:tc>
              </a:tr>
              <a:tr h="7477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М3: зависимости</a:t>
                      </a:r>
                    </a:p>
                    <a:p>
                      <a:r>
                        <a:rPr sz="1950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и воспроизводимость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Роман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Ярослав: чистая установка, аудит и триаж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2DE8F3-9552-45CC-8F1D-EBB679041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rPr>
              <a:t>Сначала личные отчёты и PR, затем взаимная проверка и созвон.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60ADA1-6CB0-4EA4-8C94-0D3A52A8F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968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9686B"/>
                </a:solidFill>
                <a:latin typeface="Helvetica Neue"/>
                <a:ea typeface="Helvetica Neue"/>
                <a:cs typeface="Helvetica Neue"/>
              </a:rPr>
              <a:t>Технический профиль ЭК1 уточняем после Л6–Л8.</a:t>
            </a:r>
          </a:p>
        </p:txBody>
      </p:sp>
    </p:spTree>
    <p:extLst>
      <p:ext uri="{BB962C8B-B14F-4D97-AF65-F5344CB8AC3E}">
        <p14:creationId xmlns:p14="http://schemas.microsoft.com/office/powerpoint/2010/main" val="19938454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886ED6-BDFE-48A6-98B9-433AE990C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1076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rPr>
              <a:t>ПРИЛОЖЕНИЕ / ДЛЯ ВОПРОСОВ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06CD5F-ECAB-4536-B31D-15A74C28D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Семь адаптированных правил SSDF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47638A-5B28-4A13-BA18-C1210C16A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72225"/>
            <a:ext cx="1000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968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9686B"/>
                </a:solidFill>
                <a:latin typeface="Helvetica Neue"/>
                <a:ea typeface="Helvetica Neue"/>
                <a:cs typeface="Helvetica Neue"/>
              </a:rPr>
              <a:t>ЯвкаИБ / TaskFlow / ЭК1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C3F3C9-9753-422C-84F6-3AED8A53B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24600"/>
            <a:ext cx="619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990725"/>
          <a:ext xmlns:a="http://schemas.openxmlformats.org/drawingml/2006/main" cx="10972800" cy="41052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7639050"/>
              </a:tblGrid>
              <a:tr h="513159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Положение SSDF 1.1</a:t>
                      </a:r>
                    </a:p>
                  </a:txBody>
                  <a:tcPr marL="91440" marR="91440" marT="45720" marB="45720">
                    <a:solidFill>
                      <a:srgbClr val="102A3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Правило TaskFlow</a:t>
                      </a:r>
                    </a:p>
                  </a:txBody>
                  <a:tcPr marL="91440" marR="91440" marT="45720" marB="45720">
                    <a:solidFill>
                      <a:srgbClr val="102A30"/>
                    </a:solidFill>
                  </a:tcPr>
                </a:tc>
              </a:tr>
              <a:tr h="513159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PO.1.2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Явные права и запрещённые сценарии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13159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PO.2.1</a:t>
                      </a:r>
                    </a:p>
                  </a:txBody>
                  <a:tcPr marL="91440" marR="91440" marT="45720" marB="45720">
                    <a:solidFill>
                      <a:srgbClr val="F7F6F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Разные автор и проверяющий</a:t>
                      </a:r>
                    </a:p>
                  </a:txBody>
                  <a:tcPr marL="91440" marR="91440" marT="45720" marB="45720">
                    <a:solidFill>
                      <a:srgbClr val="F7F6F1"/>
                    </a:solidFill>
                  </a:tcPr>
                </a:tc>
              </a:tr>
              <a:tr h="513159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PS.1.1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Минимальные права, отсутствие секретов в поставке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13159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PW.7.1–7.2</a:t>
                      </a:r>
                    </a:p>
                  </a:txBody>
                  <a:tcPr marL="91440" marR="91440" marT="45720" marB="45720">
                    <a:solidFill>
                      <a:srgbClr val="F7F6F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Независимое чтение значимого кода</a:t>
                      </a:r>
                    </a:p>
                  </a:txBody>
                  <a:tcPr marL="91440" marR="91440" marT="45720" marB="45720">
                    <a:solidFill>
                      <a:srgbClr val="F7F6F1"/>
                    </a:solidFill>
                  </a:tcPr>
                </a:tc>
              </a:tr>
              <a:tr h="513159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PW.8.1–8.2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Положительные и отрицательные проверки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13159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PS.3.1</a:t>
                      </a:r>
                    </a:p>
                  </a:txBody>
                  <a:tcPr marL="91440" marR="91440" marT="45720" marB="45720">
                    <a:solidFill>
                      <a:srgbClr val="F7F6F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Версия, архив, SHA-256 и повтор установки</a:t>
                      </a:r>
                    </a:p>
                  </a:txBody>
                  <a:tcPr marL="91440" marR="91440" marT="45720" marB="45720">
                    <a:solidFill>
                      <a:srgbClr val="F7F6F1"/>
                    </a:solidFill>
                  </a:tcPr>
                </a:tc>
              </a:tr>
              <a:tr h="513159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RV.2.1–2.2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02A3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Применимость дефекта, исправление и повтор проверки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205271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2F0CCC-116E-4D88-9958-A90C2F685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1076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rPr>
              <a:t>ПРИЛОЖЕНИЕ / ПРОЗРАЧНОСТЬ РАБОТЫ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865F4E-DAE7-4F74-AEC8-D46671099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Использование генеративного ИИ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F7F602-0837-4904-AF6C-5999735CB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72225"/>
            <a:ext cx="1000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968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9686B"/>
                </a:solidFill>
                <a:latin typeface="Helvetica Neue"/>
                <a:ea typeface="Helvetica Neue"/>
                <a:cs typeface="Helvetica Neue"/>
              </a:rPr>
              <a:t>ЯвкаИБ / TaskFlow / ЭК1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23046C-B0AE-4EFD-86EC-DA9E63080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24600"/>
            <a:ext cx="619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04CA15-385A-4F51-B3B9-FF2A45194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14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rPr>
              <a:t>OpenAI Codex, семейство GPT-6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ED063D-9AED-464C-9A36-A949C2805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Автоматизация текста, кода MVP, тестов и оформления.</a:t>
            </a:r>
          </a:p>
          <a:p xmlns:a="http://schemas.openxmlformats.org/drawingml/2006/main">
            <a:pPr>
              <a:defRPr sz="2175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Предложения по структуре, методологии и плану проверок.</a:t>
            </a:r>
          </a:p>
          <a:p xmlns:a="http://schemas.openxmlformats.org/drawingml/2006/main">
            <a:pPr>
              <a:defRPr sz="2175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Обложка презентации: иллюстрация OpenAI.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0AC0F2-2D89-4FC3-BBF1-7CF1B6E96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26756C"/>
                </a:solidFill>
                <a:latin typeface="Helvetica Neue"/>
                <a:ea typeface="Helvetica Neue"/>
                <a:cs typeface="Helvetica Neue"/>
              </a:rPr>
              <a:t>Решения и ответственность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A3B0A1-269D-4664-B376-DFF3A0312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48225"/>
            <a:ext cx="1097280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Участники выбирают и обосновывают проектные решения.</a:t>
            </a:r>
          </a:p>
          <a:p xmlns:a="http://schemas.openxmlformats.org/drawingml/2006/main">
            <a:pPr>
              <a:defRPr sz="2175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02A30"/>
                </a:solidFill>
                <a:latin typeface="Helvetica Neue"/>
                <a:ea typeface="Helvetica Neue"/>
                <a:cs typeface="Helvetica Neue"/>
              </a:rPr>
              <a:t>ИИ не заменяет независимое review и решение о выпуске.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BC12BE-3D22-4570-9720-82EAFD4E0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968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9686B"/>
                </a:solidFill>
                <a:latin typeface="Helvetica Neue"/>
                <a:ea typeface="Helvetica Neue"/>
                <a:cs typeface="Helvetica Neue"/>
              </a:rPr>
              <a:t>Данные: материалы курса, учебные исходники и синтетические сценарии.</a:t>
            </a:r>
          </a:p>
        </p:txBody>
      </p:sp>
    </p:spTree>
    <p:extLst>
      <p:ext uri="{BB962C8B-B14F-4D97-AF65-F5344CB8AC3E}">
        <p14:creationId xmlns:p14="http://schemas.microsoft.com/office/powerpoint/2010/main" val="19827607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2026-10-04T13:43:11.6330000Z</dcterms:created>
  <dcterms:modified xsi:type="dcterms:W3CDTF">2026-10-04T13:43:11.6330000Z</dcterms:modified>
</coreProperties>
</file>