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585d672f3945c2" /><Relationship Type="http://schemas.openxmlformats.org/officeDocument/2006/relationships/extended-properties" Target="/docProps/app.xml" Id="Rce19d41b73c24793" /><Relationship Type="http://schemas.openxmlformats.org/officeDocument/2006/relationships/officeDocument" Target="/ppt/presentation.xml" Id="Rf953ee181d454d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34595c71c440d2"/>
  </p:sldMasterIdLst>
  <p:notesMasterIdLst>
    <p:notesMasterId xmlns:r="http://schemas.openxmlformats.org/officeDocument/2006/relationships" r:id="R4fc3c08d2be74b1b"/>
  </p:notesMasterIdLst>
  <p:sldIdLst>
    <p:sldId xmlns:r="http://schemas.openxmlformats.org/officeDocument/2006/relationships" id="256" r:id="R14c97b2181034e10"/>
    <p:sldId xmlns:r="http://schemas.openxmlformats.org/officeDocument/2006/relationships" id="257" r:id="Rde15d6e4e137407e"/>
    <p:sldId xmlns:r="http://schemas.openxmlformats.org/officeDocument/2006/relationships" id="258" r:id="R58c4ebc909194143"/>
    <p:sldId xmlns:r="http://schemas.openxmlformats.org/officeDocument/2006/relationships" id="259" r:id="Re24f76bfbaad456d"/>
    <p:sldId xmlns:r="http://schemas.openxmlformats.org/officeDocument/2006/relationships" id="260" r:id="Rb185917003ca43c5"/>
    <p:sldId xmlns:r="http://schemas.openxmlformats.org/officeDocument/2006/relationships" id="261" r:id="R484f30cdd5e644f5"/>
    <p:sldId xmlns:r="http://schemas.openxmlformats.org/officeDocument/2006/relationships" id="262" r:id="Re0e455f41dbd468c"/>
    <p:sldId xmlns:r="http://schemas.openxmlformats.org/officeDocument/2006/relationships" id="263" r:id="Rdb2f4ca7666f4b0b"/>
    <p:sldId xmlns:r="http://schemas.openxmlformats.org/officeDocument/2006/relationships" id="264" r:id="R29fb268fcda748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843fccdef64204" /><Relationship Type="http://schemas.openxmlformats.org/officeDocument/2006/relationships/slideMaster" Target="/ppt/slideMasters/slideMaster1.xml" Id="Ra334595c71c440d2" /><Relationship Type="http://schemas.openxmlformats.org/officeDocument/2006/relationships/notesMaster" Target="/ppt/notesMasters/notesMaster1.xml" Id="R4fc3c08d2be74b1b" /><Relationship Type="http://schemas.openxmlformats.org/officeDocument/2006/relationships/presProps" Target="/ppt/presProps.xml" Id="R8cf1a055611e4d4c" /><Relationship Type="http://schemas.openxmlformats.org/officeDocument/2006/relationships/tableStyles" Target="/ppt/tableStyles.xml" Id="R3cf1ccc95b244f68" /><Relationship Type="http://schemas.openxmlformats.org/officeDocument/2006/relationships/slide" Target="/ppt/slides/slide1.xml" Id="R14c97b2181034e10" /><Relationship Type="http://schemas.openxmlformats.org/officeDocument/2006/relationships/slide" Target="/ppt/slides/slide2.xml" Id="Rde15d6e4e137407e" /><Relationship Type="http://schemas.openxmlformats.org/officeDocument/2006/relationships/slide" Target="/ppt/slides/slide3.xml" Id="R58c4ebc909194143" /><Relationship Type="http://schemas.openxmlformats.org/officeDocument/2006/relationships/slide" Target="/ppt/slides/slide4.xml" Id="Re24f76bfbaad456d" /><Relationship Type="http://schemas.openxmlformats.org/officeDocument/2006/relationships/slide" Target="/ppt/slides/slide5.xml" Id="Rb185917003ca43c5" /><Relationship Type="http://schemas.openxmlformats.org/officeDocument/2006/relationships/slide" Target="/ppt/slides/slide6.xml" Id="R484f30cdd5e644f5" /><Relationship Type="http://schemas.openxmlformats.org/officeDocument/2006/relationships/slide" Target="/ppt/slides/slide7.xml" Id="Re0e455f41dbd468c" /><Relationship Type="http://schemas.openxmlformats.org/officeDocument/2006/relationships/slide" Target="/ppt/slides/slide8.xml" Id="Rdb2f4ca7666f4b0b" /><Relationship Type="http://schemas.openxmlformats.org/officeDocument/2006/relationships/slide" Target="/ppt/slides/slide9.xml" Id="R29fb268fcda748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f052f9beba43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8064509bce4ab0" /><Relationship Type="http://schemas.openxmlformats.org/officeDocument/2006/relationships/notesMaster" Target="/ppt/notesMasters/notesMaster1.xml" Id="R309aaab1320a4f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beef9d586649c0" /><Relationship Type="http://schemas.openxmlformats.org/officeDocument/2006/relationships/notesMaster" Target="/ppt/notesMasters/notesMaster1.xml" Id="R175b4e9e75f146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613bdd07c24a2c" /><Relationship Type="http://schemas.openxmlformats.org/officeDocument/2006/relationships/notesMaster" Target="/ppt/notesMasters/notesMaster1.xml" Id="R795f769b98eb48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35ca3db36f4704" /><Relationship Type="http://schemas.openxmlformats.org/officeDocument/2006/relationships/notesMaster" Target="/ppt/notesMasters/notesMaster1.xml" Id="Rbb42501664584f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77195b4c93428e" /><Relationship Type="http://schemas.openxmlformats.org/officeDocument/2006/relationships/notesMaster" Target="/ppt/notesMasters/notesMaster1.xml" Id="R8eef3764ffbb4a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bda0bf987c4dde" /><Relationship Type="http://schemas.openxmlformats.org/officeDocument/2006/relationships/notesMaster" Target="/ppt/notesMasters/notesMaster1.xml" Id="Rf02e0fc0c99343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650a07837241c2" /><Relationship Type="http://schemas.openxmlformats.org/officeDocument/2006/relationships/notesMaster" Target="/ppt/notesMasters/notesMaster1.xml" Id="Ra27c3ca9da9f4b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5a5c6a73a84a69" /><Relationship Type="http://schemas.openxmlformats.org/officeDocument/2006/relationships/notesMaster" Target="/ppt/notesMasters/notesMaster1.xml" Id="R3de809c11df545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979066c56a4672" /><Relationship Type="http://schemas.openxmlformats.org/officeDocument/2006/relationships/notesMaster" Target="/ppt/notesMasters/notesMaster1.xml" Id="R6e5534e89a8949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часть: 15 секунд. Роман.</a:t>
            </a:r>
          </a:p>
          <a:p xmlns:a="http://schemas.openxmlformats.org/drawingml/2006/main">
            <a:r>
              <a:t>Мы представляем TaskFlow, локальный трекер задач для учебной команды. Покажем выбранную основу безопасной разработки, что уже проверено, чего пока не хватает и как распределена работа.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https://github.com/rbeketov/rbpo-yavkaib/blob/main/project.md</a:t>
            </a:r>
          </a:p>
          <a:p xmlns:a="http://schemas.openxmlformats.org/drawingml/2006/main">
            <a:r>
              <a:t>https://github.com/hse-rbpo-master-2026/course/blob/5ce5fdf4ba4bb32ac62d1b9c6728f3a6d8fa6884/seminars/S06.md</a:t>
            </a:r>
          </a:p>
          <a:p xmlns:a="http://schemas.openxmlformats.org/drawingml/2006/main">
            <a:r>
              <a:t>Обложка: иллюстрация OpenAI ImageGen, создана для этой презентации.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часть: 35 секунд. Роман.</a:t>
            </a:r>
          </a:p>
          <a:p xmlns:a="http://schemas.openxmlformats.org/drawingml/2006/main">
            <a:r>
              <a:t>Владелец управляет задачами, участниками и удалением. Редактор меняет задачи и пишет комментарии. Наблюдатель только читает. Посторонний не видит чужой проект. Роль действует внутри проекта, поэтому права одного пользователя могут отличаться в разных проектах. Исследуем исходную версию baseline-mvp. Приложение работает на Django и SQLite, локально и с учебными данными. Публичный хостинг, вложения и реальные данные не входят в область. Планируемый выпуск — v1.0.0.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https://github.com/rbeketov/rbpo-yavkaib/blob/main/project.md</a:t>
            </a:r>
          </a:p>
          <a:p xmlns:a="http://schemas.openxmlformats.org/drawingml/2006/main">
            <a:r>
              <a:t>https://github.com/rbeketov/rbpo-yavkaib/tree/baseline-mvp</a:t>
            </a:r>
          </a:p>
          <a:p xmlns:a="http://schemas.openxmlformats.org/drawingml/2006/main">
            <a:r>
              <a:t>https://github.com/rbeketov/rbpo-yavkaib/blob/main/evidence/ek1/taskflow-board.png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часть: 45 секунд. Роман.</a:t>
            </a:r>
          </a:p>
          <a:p xmlns:a="http://schemas.openxmlformats.org/drawingml/2006/main">
            <a:r>
              <a:t>Выбрали SSDF как основу процесса и ASVS как дополнение. SSDF охватывает путь от требований до выпуска и исправлений. Его полный текст открыт, а семь выбранных правил можем выполнять вдвоём. SAMM рассмотрели для оценки и развития практик, но у нового проекта пока мало истории их устойчивого выполнения. ГОСТ тоже подходит, однако курс разрешает выбирать основу. Для нашей области выбрали доступные практики SSDF. ASVS добавляет конкретные требования к веб-приложению: права, сессии и ввод. Поэтому источники дополняют друг друга.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вопросов:</a:t>
            </a:r>
          </a:p>
          <a:p xmlns:a="http://schemas.openxmlformats.org/drawingml/2006/main">
            <a:r>
              <a:t>SAMM применим и к небольшой команде. ГОСТ не ограничен государственными или сертифицируемыми проектами. Обязательность по закону или договору проверяется отдельно. Карточка ГОСТ не заменяет полный текст требований. SSDF не даёт подробного списка требований к веб-приложению, ASVS не задаёт весь порядок работы пары. Полное соответствие SSDF или уровень ASVS не заявляем. Остальные рассмотренные источники и причины выбора описаны в docs/methodology-options.md.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https://csrc.nist.gov/pubs/sp/800/218/final</a:t>
            </a:r>
          </a:p>
          <a:p xmlns:a="http://schemas.openxmlformats.org/drawingml/2006/main">
            <a:r>
              <a:t>https://github.com/OWASP/ASVS/tree/v5.0.0</a:t>
            </a:r>
          </a:p>
          <a:p xmlns:a="http://schemas.openxmlformats.org/drawingml/2006/main">
            <a:r>
              <a:t>https://owaspsamm.org/model/</a:t>
            </a:r>
          </a:p>
          <a:p xmlns:a="http://schemas.openxmlformats.org/drawingml/2006/main">
            <a:r>
              <a:t>https://protect.gost.ru/gost/details/f3818925-a96f-4f55-96e9-46b44720ee64</a:t>
            </a:r>
          </a:p>
          <a:p xmlns:a="http://schemas.openxmlformats.org/drawingml/2006/main">
            <a:r>
              <a:t>https://github.com/hse-rbpo-master-2026/course/blob/5ce5fdf4ba4bb32ac62d1b9c6728f3a6d8fa6884/lectures/L03.pdf</a:t>
            </a:r>
          </a:p>
          <a:p xmlns:a="http://schemas.openxmlformats.org/drawingml/2006/main">
            <a:r>
              <a:t>https://github.com/rbeketov/rbpo-yavkaib/blob/main/docs/methodology-options.md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часть: 35 секунд. Ярослав.</a:t>
            </a:r>
          </a:p>
          <a:p xmlns:a="http://schemas.openxmlformats.org/drawingml/2006/main">
            <a:r>
              <a:t>Пример нашего правила по SSDF PW.8: наблюдатель не меняет задачу. Роман отправляет запрос от наблюдателя и такой же от редактора. В первом случае сервер должен отказать, а данные остаться прежними. Во втором изменение разрешено. Ярослав повторяет запрет и читает проверку прав. Сохраняем версию кода, условия и результат. Если права нарушены, изменение не принимаем. ASVS 8.2.1 уточняет ограничение действий, а 8.2.2 — доступ к конкретным объектам.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вопросов:</a:t>
            </a:r>
          </a:p>
          <a:p xmlns:a="http://schemas.openxmlformats.org/drawingml/2006/main">
            <a:r>
              <a:t>PO.1.2 связывает сценарий с требованием, PW.8.1–8.2 — с тестированием, PW.7.1–7.2 — с чтением кода партнёром. Независимый повтор и конкретный сценарий являются адаптацией команды. ASVS 8.3.1 требует доверенного слоя проверки: скрытая кнопка не заменяет проверку на сервере.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https://csrc.nist.gov/pubs/sp/800/218/final</a:t>
            </a:r>
          </a:p>
          <a:p xmlns:a="http://schemas.openxmlformats.org/drawingml/2006/main">
            <a:r>
              <a:t>https://github.com/rbeketov/rbpo-yavkaib/blob/main/project.md</a:t>
            </a:r>
          </a:p>
          <a:p xmlns:a="http://schemas.openxmlformats.org/drawingml/2006/main">
            <a:r>
              <a:t>https://github.com/rbeketov/rbpo-yavkaib/blob/main/tracker/permissions.py</a:t>
            </a:r>
          </a:p>
          <a:p xmlns:a="http://schemas.openxmlformats.org/drawingml/2006/main">
            <a:r>
              <a:t>https://github.com/rbeketov/rbpo-yavkaib/blob/main/tracker/tests.py</a:t>
            </a:r>
          </a:p>
          <a:p xmlns:a="http://schemas.openxmlformats.org/drawingml/2006/main">
            <a:r>
              <a:t>https://github.com/OWASP/ASVS/blob/v5.0.0/5.0/en/0x17-V8-Authorization.md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часть: 35 секунд. Роман.</a:t>
            </a:r>
          </a:p>
          <a:p xmlns:a="http://schemas.openxmlformats.org/drawingml/2006/main">
            <a:r>
              <a:t>В исходной версии прошли 27 тестов и пять инженерных проверок. Результаты и версия кода сохранены. Но в срезе репозитория на четвёртое октября нет подтверждения независимой проверки партнёром. Это главный пробел G1: код и тест могут повторять одну ошибку. Его закрываем чтением кода по PW.7 и повтором сценария по PW.8. Также в плане проверка известных уязвимостей библиотек и независимый запуск архива. Эти пробелы сами по себе не доказывают наличие уязвимости.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https://github.com/rbeketov/rbpo-yavkaib/blob/main/evidence/ek1/verification.json</a:t>
            </a:r>
          </a:p>
          <a:p xmlns:a="http://schemas.openxmlformats.org/drawingml/2006/main">
            <a:r>
              <a:t>https://github.com/rbeketov/rbpo-yavkaib/blob/main/evidence/ek1/repository-observation-selected.json</a:t>
            </a:r>
          </a:p>
          <a:p xmlns:a="http://schemas.openxmlformats.org/drawingml/2006/main">
            <a:r>
              <a:t>https://github.com/hse-rbpo-master-2026/course/blob/5ce5fdf4ba4bb32ac62d1b9c6728f3a6d8fa6884/lectures/L04.pdf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часть: 40 секунд. Ярослав.</a:t>
            </a:r>
          </a:p>
          <a:p xmlns:a="http://schemas.openxmlformats.org/drawingml/2006/main">
            <a:r>
              <a:t>Перед изменением автор уточняет требование и запрещённый сценарий по PO.1.2. Назначаем автора и другого проверяющего по PO.2.1. Автор запускает тесты по PW.8, партнёр читает код по PW.7 и повторяет важный случай. Результат сохраняем для конкретной версии. Перед выпуском Роман разбирает найденные проблемы по RV.2 и проверяет защиту кода по PS.1.1. Ярослав проверяет архив и повторяет установку по нашему правилу на основе PS.3.1. Решение принимаем вместе. Без проверяющего или при нарушении прав откладываем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вопросов:</a:t>
            </a:r>
          </a:p>
          <a:p xmlns:a="http://schemas.openxmlformats.org/drawingml/2006/main">
            <a:r>
              <a:t>Независимая установка является способом проверки комплекта в нашей адаптации PS.3.1, а не дословным требованием задачи. Некритическое исключение: запись с причиной, срок до семи дней, согласие обоих. Нарушение прав исключением не допускается. При споре откладываем выпуск и обращаемся к преподавателю. Обязательная техническая блокировка GitHub не подтверждена, поэтому это правило пары.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https://github.com/rbeketov/rbpo-yavkaib/blob/main/project.md</a:t>
            </a:r>
          </a:p>
          <a:p xmlns:a="http://schemas.openxmlformats.org/drawingml/2006/main">
            <a:r>
              <a:t>https://github.com/rbeketov/rbpo-yavkaib/blob/main/CONTRIBUTING.md</a:t>
            </a:r>
          </a:p>
          <a:p xmlns:a="http://schemas.openxmlformats.org/drawingml/2006/main">
            <a:r>
              <a:t>https://github.com/hse-rbpo-master-2026/course/blob/5ce5fdf4ba4bb32ac62d1b9c6728f3a6d8fa6884/lectures/L05.pdf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часть: 35 секунд. Ярослав.</a:t>
            </a:r>
          </a:p>
          <a:p xmlns:a="http://schemas.openxmlformats.org/drawingml/2006/main">
            <a:r>
              <a:t>В плане каждое действие связано с методологией. Роман проверяет права по PO.1.2, PW.8 и ASVS V8. Для библиотек и настроек использует RV.2 и PS.1.1. Ярослав проверяет ввод и CSRF по PW.8 и ASVS, затем независимо запускает архив по нашему правилу PS.3.1. Оба читают код партнёра по PW.7 и повторяют его проверку по PW.8. Сохраняем личные отчёты, затем обсуждаем результаты на созвоне.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вопросов:</a:t>
            </a:r>
          </a:p>
          <a:p xmlns:a="http://schemas.openxmlformats.org/drawingml/2006/main">
            <a:r>
              <a:t>Все сокращённые коды PO/PS/PW/RV относятся к SSDF 1.1. PW.7 = PW.7.1–7.2, PW.8 = PW.8.1–8.2, RV.2 = RV.2.1–2.2. ASVS 5.0.0 для М1: 8.1.1, 8.2.1–8.2.3, 8.3.1–8.3.2. Для М2: 1.2.1, 2.1.1, 2.2.1–2.2.2, 3.5.1, 3.5.3, 3.7.2, 7.4.1. V8 — доступ, V1 — безопасный вывод, V2 — валидация, V3 — CSRF и браузер, V7 — сессии. Сканирование зависимостей даёт входные данные для RV.2; RV.2 относится к анализу риска и решению по найденной проблеме, а не предписывает конкретный сканер. PS.1.1 — защита репозитория и конфигурации; проверка всех настроек приложения не сводится к этой задаче. Полные планы обоих с практиками и результатами — docs/work-plan.md. Issue #1 назначен Роману, Issue #2 пока без назначения аккаунту. План технических средств уточняем после Л6–Л8.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https://github.com/rbeketov/rbpo-yavkaib/blob/main/docs/work-plan.md</a:t>
            </a:r>
          </a:p>
          <a:p xmlns:a="http://schemas.openxmlformats.org/drawingml/2006/main">
            <a:r>
              <a:t>https://github.com/rbeketov/rbpo-yavkaib/issues</a:t>
            </a:r>
          </a:p>
          <a:p xmlns:a="http://schemas.openxmlformats.org/drawingml/2006/main">
            <a:r>
              <a:t>https://github.com/hse-rbpo-master-2026/course/blob/5ce5fdf4ba4bb32ac62d1b9c6728f3a6d8fa6884/seminars/S06.md</a:t>
            </a:r>
          </a:p>
          <a:p xmlns:a="http://schemas.openxmlformats.org/drawingml/2006/main">
            <a:r>
              <a:t>https://csrc.nist.gov/pubs/sp/800/218/final</a:t>
            </a:r>
          </a:p>
          <a:p xmlns:a="http://schemas.openxmlformats.org/drawingml/2006/main">
            <a:r>
              <a:t>https://github.com/OWASP/ASVS/blob/v5.0.0/5.0/en/0x17-V8-Authorization.md</a:t>
            </a:r>
          </a:p>
          <a:p xmlns:a="http://schemas.openxmlformats.org/drawingml/2006/main">
            <a:r>
              <a:t>https://github.com/OWASP/ASVS/blob/v5.0.0/5.0/en/0x10-V1-Encoding-and-Sanitization.md</a:t>
            </a:r>
          </a:p>
          <a:p xmlns:a="http://schemas.openxmlformats.org/drawingml/2006/main">
            <a:r>
              <a:t>https://github.com/OWASP/ASVS/blob/v5.0.0/5.0/en/0x11-V2-Validation-and-Business-Logic.md</a:t>
            </a:r>
          </a:p>
          <a:p xmlns:a="http://schemas.openxmlformats.org/drawingml/2006/main">
            <a:r>
              <a:t>https://github.com/OWASP/ASVS/blob/v5.0.0/5.0/en/0x12-V3-Web-Frontend-Security.md</a:t>
            </a:r>
          </a:p>
          <a:p xmlns:a="http://schemas.openxmlformats.org/drawingml/2006/main">
            <a:r>
              <a:t>https://github.com/OWASP/ASVS/blob/v5.0.0/5.0/en/0x16-V7-Session-Management.md</a:t>
            </a:r>
          </a:p>
          <a:p xmlns:a="http://schemas.openxmlformats.org/drawingml/2006/main">
            <a:r>
              <a:t>https://github.com/rbeketov/rbpo-yavkaib/issues/1</a:t>
            </a:r>
          </a:p>
          <a:p xmlns:a="http://schemas.openxmlformats.org/drawingml/2006/main">
            <a:r>
              <a:t>https://github.com/rbeketov/rbpo-yavkaib/issues/2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 для вопросов.</a:t>
            </a:r>
          </a:p>
          <a:p xmlns:a="http://schemas.openxmlformats.org/drawingml/2006/main">
            <a:r>
              <a:t>Это семь выбранных групп задач SSDF, адаптированных к TaskFlow. В паспорте для каждой указаны действие, участник, результат и условие принятия. В личных планах эти же коды стоят рядом с работой Романа и Ярослава. ASVS дополняет их требованиями к конкретному поведению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вопросов:</a:t>
            </a:r>
          </a:p>
          <a:p xmlns:a="http://schemas.openxmlformats.org/drawingml/2006/main">
            <a:r>
              <a:t>PS.3.1 касается сохранения файлов выпуска и сопроводительных данных. Независимую установку добавляем как способ проверки нашего комплекта. RV.2.1–2.2 — анализ риска и план реакции на проблему; повторный тест после исправления связываем с PW.8. Номера слайдов не заменяют точные пункты паспорта и первоисточника.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https://csrc.nist.gov/pubs/sp/800/218/final</a:t>
            </a:r>
          </a:p>
          <a:p xmlns:a="http://schemas.openxmlformats.org/drawingml/2006/main">
            <a:r>
              <a:t>https://github.com/OWASP/ASVS/tree/v5.0.0</a:t>
            </a:r>
          </a:p>
          <a:p xmlns:a="http://schemas.openxmlformats.org/drawingml/2006/main">
            <a:r>
              <a:t>https://github.com/rbeketov/rbpo-yavkaib/blob/main/project.md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 для вопросов.</a:t>
            </a:r>
          </a:p>
          <a:p xmlns:a="http://schemas.openxmlformats.org/drawingml/2006/main">
            <a:r>
              <a:t>Использовали Codex для автоматизации подготовки текстов, кода, тестов и оформления, а также для вариантов методологии и плана. Выбор TaskFlow и варианта A сделан участником команды. Ответственность за решения и их объяснение остаётся у участников. Проверки средствами Codex сохранены отдельно и не выдаются за независимое человеческое review. Источники — публичный курс и учебный проект, данные для приложения синтетические. Подробности в разделе двенадцать паспорта.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https://github.com/rbeketov/rbpo-yavkaib/blob/main/project.md</a:t>
            </a:r>
          </a:p>
          <a:p xmlns:a="http://schemas.openxmlformats.org/drawingml/2006/main">
            <a:r>
              <a:t>https://github.com/hse-rbpo-master-2026/course/blob/5ce5fdf4ba4bb32ac62d1b9c6728f3a6d8fa6884/ai-usage.md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0adfcbc3343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10ec67076346d7" /><Relationship Type="http://schemas.openxmlformats.org/officeDocument/2006/relationships/slideLayout" Target="/ppt/slideLayouts/slideLayout1.xml" Id="R665cc7a5477c40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5cc7a5477c40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38d77512346db" /><Relationship Type="http://schemas.openxmlformats.org/officeDocument/2006/relationships/image" Target="/ppt/media/image.png" Id="Rff2e57c791214e74" /><Relationship Type="http://schemas.openxmlformats.org/officeDocument/2006/relationships/notesSlide" Target="/ppt/notesSlides/notesSlide1.xml" Id="R831391e3baf64e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0169e926e4367" /><Relationship Type="http://schemas.openxmlformats.org/officeDocument/2006/relationships/image" Target="/ppt/media/image.jpeg" Id="R3798f556b7e14e48" /><Relationship Type="http://schemas.openxmlformats.org/officeDocument/2006/relationships/notesSlide" Target="/ppt/notesSlides/notesSlide2.xml" Id="R88674dab660046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ffa8a79d64715" /><Relationship Type="http://schemas.openxmlformats.org/officeDocument/2006/relationships/notesSlide" Target="/ppt/notesSlides/notesSlide3.xml" Id="R45dc019214b149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c9ac1af404610" /><Relationship Type="http://schemas.openxmlformats.org/officeDocument/2006/relationships/notesSlide" Target="/ppt/notesSlides/notesSlide4.xml" Id="Rc86bbf9efbc64e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649ea8b1c42b2" /><Relationship Type="http://schemas.openxmlformats.org/officeDocument/2006/relationships/notesSlide" Target="/ppt/notesSlides/notesSlide5.xml" Id="R6299250cc7f240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ac22ddbee42f9" /><Relationship Type="http://schemas.openxmlformats.org/officeDocument/2006/relationships/notesSlide" Target="/ppt/notesSlides/notesSlide6.xml" Id="Rd9df0ce6b37a4e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e83d5690d4f99" /><Relationship Type="http://schemas.openxmlformats.org/officeDocument/2006/relationships/notesSlide" Target="/ppt/notesSlides/notesSlide7.xml" Id="R89423ca143ca47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0be0eb8384012" /><Relationship Type="http://schemas.openxmlformats.org/officeDocument/2006/relationships/notesSlide" Target="/ppt/notesSlides/notesSlide8.xml" Id="Rddddfac612f448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505c2447c43e0" /><Relationship Type="http://schemas.openxmlformats.org/officeDocument/2006/relationships/notesSlide" Target="/ppt/notesSlides/notesSlide9.xml" Id="R804f99b365d64b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e57c791214e7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6760C-E993-4424-A36D-3170D6ED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A9DB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9DBCB"/>
                </a:solidFill>
                <a:latin typeface="Helvetica Neue"/>
                <a:ea typeface="Helvetica Neue"/>
                <a:cs typeface="Helvetica Neue"/>
              </a:rPr>
              <a:t>ЯВКАИБ / РАЗРАБОТКА БЕЗОПАСНОГО ПО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ADD4E-0479-424C-8B04-E04B1C68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00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TaskFlow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F9B92-B529-4E24-8377-C9A92517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600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F2F5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F2F5F0"/>
                </a:solidFill>
                <a:latin typeface="Helvetica Neue"/>
                <a:ea typeface="Helvetica Neue"/>
                <a:cs typeface="Helvetica Neue"/>
              </a:rPr>
              <a:t>Концепция безопасной</a:t>
            </a:r>
          </a:p>
          <a:p xmlns:a="http://schemas.openxmlformats.org/drawingml/2006/main">
            <a:pPr>
              <a:buNone/>
              <a:defRPr sz="2850" b="0">
                <a:solidFill>
                  <a:srgbClr val="F2F5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F2F5F0"/>
                </a:solidFill>
                <a:latin typeface="Helvetica Neue"/>
                <a:ea typeface="Helvetica Neue"/>
                <a:cs typeface="Helvetica Neue"/>
              </a:rPr>
              <a:t>разработки</a:t>
            </a:r>
          </a:p>
          <a:p xmlns:a="http://schemas.openxmlformats.org/drawingml/2006/main">
            <a:pPr>
              <a:buNone/>
              <a:defRPr sz="2850" b="0">
                <a:solidFill>
                  <a:srgbClr val="F2F5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F2F5F0"/>
                </a:solidFill>
                <a:latin typeface="Helvetica Neue"/>
                <a:ea typeface="Helvetica Neue"/>
                <a:cs typeface="Helvetica Neue"/>
              </a:rPr>
              <a:t>трекера задач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1B4E7-74A5-4CC1-BCF4-BE77AF09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E0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0ECE7"/>
                </a:solidFill>
                <a:latin typeface="Helvetica Neue"/>
                <a:ea typeface="Helvetica Neue"/>
                <a:cs typeface="Helvetica Neue"/>
              </a:rPr>
              <a:t>Бекетов Роман Александрович</a:t>
            </a:r>
          </a:p>
          <a:p xmlns:a="http://schemas.openxmlformats.org/drawingml/2006/main">
            <a:pPr>
              <a:buNone/>
              <a:defRPr sz="1875" b="0">
                <a:solidFill>
                  <a:srgbClr val="E0E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0ECE7"/>
                </a:solidFill>
                <a:latin typeface="Helvetica Neue"/>
                <a:ea typeface="Helvetica Neue"/>
                <a:cs typeface="Helvetica Neue"/>
              </a:rPr>
              <a:t>Кузьмин Ярослав Артёмович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81890-5C67-419E-8F98-319DB4BA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9DB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DBCB"/>
                </a:solidFill>
                <a:latin typeface="Helvetica Neue"/>
                <a:ea typeface="Helvetica Neue"/>
                <a:cs typeface="Helvetica Neue"/>
              </a:rPr>
              <a:t>ЭК1 / 2026</a:t>
            </a:r>
          </a:p>
        </p:txBody>
      </p:sp>
    </p:spTree>
    <p:extLst>
      <p:ext uri="{BB962C8B-B14F-4D97-AF65-F5344CB8AC3E}">
        <p14:creationId xmlns:p14="http://schemas.microsoft.com/office/powerpoint/2010/main" val="10124037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D2F82-7021-41C6-AFE8-33FB3DCF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КОНЦЕПЦИЯ БЕЗОПАСНОЙ РАЗРАБОТКИ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EB9DD-F427-4B7C-AF58-BFF79157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Продукт и границы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791B5-6D28-4EBC-BEA3-C041BE14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rPr>
              <a:t>ЯвкаИБ / TaskFlow / ЭК1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AB752-CD1B-445C-B128-8ADB482A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246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8f556b7e14e48"/>
          <a:stretch xmlns:a="http://schemas.openxmlformats.org/drawingml/2006/main"/>
        </p:blipFill>
        <p:spPr>
          <a:xfrm xmlns:a="http://schemas.openxmlformats.org/drawingml/2006/main">
            <a:off x="609600" y="2085975"/>
            <a:ext cx="6858000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62C8C-C912-421B-801A-DB64D432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9775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Владелец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831E5-7616-4CF8-8171-6A438313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9825"/>
            <a:ext cx="3667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Задачи, участники, удаление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D38DE-6B9C-42C3-87EB-44D4C4C4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Редактор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A714E-0660-4245-985A-820749D7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3667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Задачи и комментарии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A66B2-12F0-4C60-9FD9-D4077746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00525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Наблюдатель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D353A-9C5E-4775-A2CF-88045166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005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Только чтение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32424-56B7-4A94-BC2E-B4BD2B55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38750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rPr>
              <a:t>Django + SQLite</a:t>
            </a:r>
          </a:p>
          <a:p xmlns:a="http://schemas.openxmlformats.org/drawingml/2006/main">
            <a:pPr>
              <a:buNone/>
              <a:defRPr sz="1725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rPr>
              <a:t>Локально, учебные 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1BC8B-F16B-489E-9F46-B8149F66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9055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rPr>
              <a:t>baseline-mvp / цель v1.0.0</a:t>
            </a:r>
          </a:p>
        </p:txBody>
      </p:sp>
    </p:spTree>
    <p:extLst>
      <p:ext uri="{BB962C8B-B14F-4D97-AF65-F5344CB8AC3E}">
        <p14:creationId xmlns:p14="http://schemas.microsoft.com/office/powerpoint/2010/main" val="2206810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218E9-1BDF-489F-805E-A7ED04E7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КОНЦЕПЦИЯ БЕЗОПАСНОЙ РАЗРАБОТКИ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C6168-BD79-4BB0-824A-EDE2FC2A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Почему выбрали SSDF + ASVS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2B022-0060-4A10-8224-A10BB04F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rPr>
              <a:t>ЯвкаИБ / TaskFlow / ЭК1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741BA-7E4D-4A77-A56E-CEF32783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246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9C80F-CB2E-4C90-9CAF-DDE05F6E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SSDF 1.1 задаёт порядок работы. ASVS 5.0.0 уточняет веб-проверки.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E6F0E-8655-43FF-974B-6E4533BE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SSDF охватывает весь путь разработки, полный текст открыт.</a:t>
            </a:r>
          </a:p>
          <a:p xmlns:a="http://schemas.openxmlformats.org/drawingml/2006/main">
            <a:pPr>
              <a:buNone/>
              <a:defRPr sz="18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ASVS дополняет его требованиями к доступу, сессиям и вводу.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4324350"/>
                <a:gridCol w="3905250"/>
              </a:tblGrid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Основа</a:t>
                      </a:r>
                    </a:p>
                  </a:txBody>
                  <a:tcPr marL="91440" marR="91440" marT="45720" marB="45720">
                    <a:solidFill>
                      <a:srgbClr val="102A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Зачем рассмотрели</a:t>
                      </a:r>
                    </a:p>
                  </a:txBody>
                  <a:tcPr marL="91440" marR="91440" marT="45720" marB="45720">
                    <a:solidFill>
                      <a:srgbClr val="102A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Решение</a:t>
                      </a:r>
                    </a:p>
                  </a:txBody>
                  <a:tcPr marL="91440" marR="91440" marT="45720" marB="45720">
                    <a:solidFill>
                      <a:srgbClr val="102A30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NIST SSDF 1.1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Требования, проверка кода,</a:t>
                      </a:r>
                    </a:p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тесты и выпуск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Основа: 7 правил пары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OWASP SAMM 2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Оценка и развитие</a:t>
                      </a:r>
                    </a:p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практик команды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Пока мало истории</a:t>
                      </a:r>
                    </a:p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устойчивой работы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ГОСТ Р 56939-2024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Требования к работам</a:t>
                      </a:r>
                    </a:p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безопасной разработки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Курс допускает выбор.</a:t>
                      </a:r>
                    </a:p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Выбрали открытый SSDF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5149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36832-8B90-4562-9CD5-20B2209D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КОНЦЕПЦИЯ БЕЗОПАСНОЙ РАЗРАБОТКИ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E136D-6EA8-4350-B7A0-995FFCEF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Одно правило в действии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7BBEA-07AF-4A9C-97C1-42144AAC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rPr>
              <a:t>ЯвкаИБ / TaskFlow / ЭК1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5B7F1-F785-4784-AAF1-38F88216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246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FEF88-8900-49AA-857B-B98B094A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PW.8.1–8.2: проверка работающего приложения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83D5E-1612-4E94-8323-4D4E117E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Сохраняем версию кода, условия, результат и проверку партнёра.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1097280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5286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Шаг</a:t>
                      </a:r>
                    </a:p>
                  </a:txBody>
                  <a:tcPr marL="91440" marR="91440" marT="45720" marB="45720">
                    <a:solidFill>
                      <a:srgbClr val="102A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Пример для прав доступа</a:t>
                      </a:r>
                    </a:p>
                  </a:txBody>
                  <a:tcPr marL="91440" marR="91440" marT="45720" marB="45720">
                    <a:solidFill>
                      <a:srgbClr val="102A30"/>
                    </a:solidFill>
                  </a:tcPr>
                </a:tc>
              </a:tr>
              <a:tr h="5286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Требование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Наблюдатель не изменяет задачу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Действие Романа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Запрос от наблюдателя и такой же от редактора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</a:tr>
              <a:tr h="5286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Наблюдателю отказано, данные прежние. Редактор меняет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Проверка Ярослава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Повторить запрет и прочитать проверку прав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</a:tr>
              <a:tr h="5286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Решение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Если права нарушены, изменение не принимаем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553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CFE3C-CD5C-4122-B953-3F4FCBBE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КОНЦЕПЦИЯ БЕЗОПАСНОЙ РАЗРАБОТКИ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E3952-3CCD-43AA-AC7B-7147A278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Текущее состояние и главный пробел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83CD4-91EB-4FB5-921C-78D64513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rPr>
              <a:t>ЯвкаИБ / TaskFlow / ЭК1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5EE69-5510-4909-9058-5F020406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246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8F4B4-8575-46C0-A782-EEE17DEB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4238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27 тестов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DD727-F875-4A96-84D8-36442A5F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4381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5 проверок прошли.</a:t>
            </a:r>
          </a:p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Результаты и версия сохранены.</a:t>
            </a:r>
          </a:p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Срез: 04.10.2026.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D8E09-772E-46B6-BBD2-1A5FC025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76450"/>
            <a:ext cx="5981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G1: нет проверки партнёром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A0FA6-B78F-406A-B1B3-7D5645F8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43250"/>
            <a:ext cx="59817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Код и тесты могут повторять</a:t>
            </a:r>
          </a:p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одну и ту же ошибку.</a:t>
            </a:r>
          </a:p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В исследованной истории нет</a:t>
            </a:r>
          </a:p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сохранённой проверки партнёром.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52799-A702-4358-A173-6C648B14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Приоритет: независимая проверка прав перед принятием изменений.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29582-37BA-49FC-BB78-C6D14D9B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rPr>
              <a:t>G2: анализ уязвимостей библиотек. G3: запуск архива партнёром.</a:t>
            </a:r>
          </a:p>
        </p:txBody>
      </p:sp>
    </p:spTree>
    <p:extLst>
      <p:ext uri="{BB962C8B-B14F-4D97-AF65-F5344CB8AC3E}">
        <p14:creationId xmlns:p14="http://schemas.microsoft.com/office/powerpoint/2010/main" val="9504951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12E6B-543E-40BB-8C37-F1BF5E1E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КОНЦЕПЦИЯ БЕЗОПАСНОЙ РАЗРАБОТКИ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F4FC4-EE0D-4131-97DB-64897854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Контрольные точки и ответственность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6421F-B56C-4E3A-81AA-03E620BF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rPr>
              <a:t>ЯвкаИБ / TaskFlow / ЭК1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D2BF9-671A-4A48-8268-793497F6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246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402D9-A02D-479A-B420-BE8D7917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095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Включение изменения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16324-16D2-406D-BFE4-239E5DAF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5038725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Автор: изменение и тесты (PW.8).</a:t>
            </a:r>
          </a:p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Партнёр: чтение кода (PW.7)</a:t>
            </a:r>
          </a:p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и повтор важного сценария.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Сохраняем результат проверки</a:t>
            </a:r>
          </a:p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для конкретной версии кода.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396E6-D76B-4509-BF47-24CD09FF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238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Продуктовый выпуск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8EF49-D7BD-4A62-9B1D-EC1E3D0A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38425"/>
            <a:ext cx="523875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Роман: разбор проблем (RV.2),</a:t>
            </a:r>
          </a:p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защита кода и секретов (PS.1.1).</a:t>
            </a:r>
          </a:p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Ярослав: проверка архива (PS.3.1).</a:t>
            </a:r>
          </a:p>
          <a:p xmlns:a="http://schemas.openxmlformats.org/drawingml/2006/main">
            <a:pPr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Оба: решение по отчётам.</a:t>
            </a:r>
          </a:p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Сохраняем версию, тег и SHA-256.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F82F7-3D2E-4DFE-B106-2BE97AD6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Без проверки партнёром или при нарушении прав изменение ждёт.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33CA4-DD94-47F6-8BA5-4BF9CA84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rPr>
              <a:t>Некритическое исключение: запись, срок до 7 дней и согласие обоих.</a:t>
            </a:r>
          </a:p>
        </p:txBody>
      </p:sp>
    </p:spTree>
    <p:extLst>
      <p:ext uri="{BB962C8B-B14F-4D97-AF65-F5344CB8AC3E}">
        <p14:creationId xmlns:p14="http://schemas.microsoft.com/office/powerpoint/2010/main" val="7632082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77BED-1E9A-412E-94AF-B9525FD2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КОНЦЕПЦИЯ БЕЗОПАСНОЙ РАЗРАБОТКИ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63159-4B2B-4A5F-BE65-2C3873DE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План проверок Романа и Ярослава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D0351-E4D1-4F95-A8F7-769D9136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rPr>
              <a:t>ЯвкаИБ / TaskFlow / ЭК1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C1ED1-A387-4B37-BDDC-A361605C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246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DE8F3-9552-45CC-8F1D-EBB67904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Оба: читают код партнёра (PW.7), повторяют проверку (PW.8).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0ADA1-6CB0-4EA4-8C94-0D3A52A8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rPr>
              <a:t>После отчётов и взаимной проверки созваниваемся. План ЭК1 предварительный.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238500"/>
                <a:gridCol w="2857500"/>
                <a:gridCol w="2781300"/>
              </a:tblGrid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Участник</a:t>
                      </a:r>
                    </a:p>
                  </a:txBody>
                  <a:tcPr marL="91440" marR="91440" marT="45720" marB="45720">
                    <a:solidFill>
                      <a:srgbClr val="102A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делает</a:t>
                      </a:r>
                    </a:p>
                  </a:txBody>
                  <a:tcPr marL="91440" marR="91440" marT="45720" marB="45720">
                    <a:solidFill>
                      <a:srgbClr val="102A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Основа</a:t>
                      </a:r>
                    </a:p>
                  </a:txBody>
                  <a:tcPr marL="91440" marR="91440" marT="45720" marB="45720">
                    <a:solidFill>
                      <a:srgbClr val="102A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Кто проверяет</a:t>
                      </a:r>
                    </a:p>
                  </a:txBody>
                  <a:tcPr marL="91440" marR="91440" marT="45720" marB="45720">
                    <a:solidFill>
                      <a:srgbClr val="102A30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Роман / М1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Права и изоляция</a:t>
                      </a:r>
                    </a:p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проектов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PO.1.2, PW.8</a:t>
                      </a:r>
                    </a:p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ASVS V8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Ярослав:</a:t>
                      </a:r>
                    </a:p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 запрета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Роман / М3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Библиотеки</a:t>
                      </a:r>
                    </a:p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 настройки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RV.2, PS.1.1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Ярослав:</a:t>
                      </a:r>
                    </a:p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проверка вывода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Ярослав / М2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Ввод, вывод</a:t>
                      </a:r>
                    </a:p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 CSRF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PW.8</a:t>
                      </a:r>
                    </a:p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ASVS V1–V3, V7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Роман:</a:t>
                      </a:r>
                    </a:p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 сценария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Ярослав / М3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Установка и запуск</a:t>
                      </a:r>
                    </a:p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из архива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PS.3.1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Роман:</a:t>
                      </a:r>
                    </a:p>
                    <a:p>
                      <a:r>
                        <a:rPr sz="1875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сверка результата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8454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86ED6-BDFE-48A6-98B9-433AE990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ПРИЛОЖЕНИЕ / ДЛЯ ВОПРОСОВ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6CD5F-ECAB-4536-B31D-15A74C28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Семь адаптированных правил SSDF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7638A-5B28-4A13-BA18-C1210C16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rPr>
              <a:t>ЯвкаИБ / TaskFlow / ЭК1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3F3C9-9753-422C-84F6-3AED8A53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246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10972800" cy="4105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51315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Положение SSDF 1.1</a:t>
                      </a:r>
                    </a:p>
                  </a:txBody>
                  <a:tcPr marL="91440" marR="91440" marT="45720" marB="45720">
                    <a:solidFill>
                      <a:srgbClr val="102A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Правило TaskFlow</a:t>
                      </a:r>
                    </a:p>
                  </a:txBody>
                  <a:tcPr marL="91440" marR="91440" marT="45720" marB="45720">
                    <a:solidFill>
                      <a:srgbClr val="102A30"/>
                    </a:solidFill>
                  </a:tcPr>
                </a:tc>
              </a:tr>
              <a:tr h="51315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PO.1.2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Записываем права и запрещённые сценарии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315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PO.2.1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Назначаем автора и другого проверяющего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</a:tr>
              <a:tr h="51315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PS.1.1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Ограничиваем доступ к коду, защищаем секреты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315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PW.7.1–7.2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Партнёр читает значимый код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</a:tr>
              <a:tr h="51315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PW.8.1–8.2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Проверяем разрешённые и запрещённые действия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315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PS.3.1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Сохраняем выпуск, архив и данные о целостности</a:t>
                      </a:r>
                    </a:p>
                  </a:txBody>
                  <a:tcPr marL="91440" marR="91440" marT="45720" marB="45720">
                    <a:solidFill>
                      <a:srgbClr val="F7F6F1"/>
                    </a:solidFill>
                  </a:tcPr>
                </a:tc>
              </a:tr>
              <a:tr h="51315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RV.2.1–2.2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Оцениваем риск проблемы и выбираем действие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0527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F0CCC-116E-4D88-9958-A90C2F68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ПРИЛОЖЕНИЕ / ПРОЗРАЧНОСТЬ РАБОТЫ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65F4E-DAE7-4F74-AEC8-D4667109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Использование генеративного 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7F602-0837-4904-AF6C-5999735C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rPr>
              <a:t>ЯвкаИБ / TaskFlow / ЭК1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3046C-B0AE-4EFD-86EC-DA9E6308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246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4CA15-385A-4F51-B3B9-FF2A4519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OpenAI Codex, семейство GPT-6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D063D-9AED-464C-9A36-A949C280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Автоматизация текста, кода MVP, тестов и оформления.</a:t>
            </a:r>
          </a:p>
          <a:p xmlns:a="http://schemas.openxmlformats.org/drawingml/2006/main">
            <a:pPr>
              <a:buNone/>
              <a:defRPr sz="21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Предложения по методологии и плану проверок.</a:t>
            </a:r>
          </a:p>
          <a:p xmlns:a="http://schemas.openxmlformats.org/drawingml/2006/main">
            <a:pPr>
              <a:buNone/>
              <a:defRPr sz="21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Обложка презентации: иллюстрация OpenAI.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AC0F2-2D89-4FC3-BBF1-7CF1B6E9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6756C"/>
                </a:solidFill>
                <a:latin typeface="Helvetica Neue"/>
                <a:ea typeface="Helvetica Neue"/>
                <a:cs typeface="Helvetica Neue"/>
              </a:rPr>
              <a:t>Решения и ответственность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3B0A1-269D-4664-B376-DFF3A031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Участники выбирают и обосновывают проектные решения.</a:t>
            </a:r>
          </a:p>
          <a:p xmlns:a="http://schemas.openxmlformats.org/drawingml/2006/main">
            <a:pPr>
              <a:buNone/>
              <a:defRPr sz="21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rPr>
              <a:t>ИИ не заменяет проверку партнёром и решение о выпуске.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C12BE-3D22-4570-9720-82EAFD4E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86B"/>
                </a:solidFill>
                <a:latin typeface="Helvetica Neue"/>
                <a:ea typeface="Helvetica Neue"/>
                <a:cs typeface="Helvetica Neue"/>
              </a:rPr>
              <a:t>Данные: материалы курса, учебные исходники и синтетические сценарии.</a:t>
            </a:r>
          </a:p>
        </p:txBody>
      </p:sp>
    </p:spTree>
    <p:extLst>
      <p:ext uri="{BB962C8B-B14F-4D97-AF65-F5344CB8AC3E}">
        <p14:creationId xmlns:p14="http://schemas.microsoft.com/office/powerpoint/2010/main" val="1982760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2026-10-05T16:12:45.8300000Z</dcterms:created>
  <dcterms:modified xsi:type="dcterms:W3CDTF">2026-10-05T16:12:45.8300000Z</dcterms:modified>
</coreProperties>
</file>